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mp4" ContentType="video/mp4"/>
  <Default Extension="png" ContentType="image/png"/>
  <Default Extension="rels" ContentType="application/vnd.openxmlformats-package.relationships+xml"/>
  <Default Extension="svg" ContentType="image/svg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48" r:id="rId1"/>
  </p:sldMasterIdLst>
  <p:notesMasterIdLst>
    <p:notesMasterId r:id="rId11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sldSz cx="18288000" cy="10287000"/>
  <p:notesSz cx="6858000" cy="9144000"/>
  <p:embeddedFontLst>
    <p:embeddedFont>
      <p:font typeface="Antique Olive" panose="020B0604020202020204" charset="0"/>
      <p:regular r:id="rId12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 autoAdjust="0"/>
    <p:restoredTop sz="94622" autoAdjust="0"/>
  </p:normalViewPr>
  <p:slideViewPr>
    <p:cSldViewPr>
      <p:cViewPr varScale="1">
        <p:scale>
          <a:sx n="30" d="100"/>
          <a:sy n="30" d="100"/>
        </p:scale>
        <p:origin x="1018" y="24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font" Target="fonts/font1.fntdata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Posição do Cabeçalh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pt-PT"/>
          </a:p>
        </p:txBody>
      </p:sp>
      <p:sp>
        <p:nvSpPr>
          <p:cNvPr id="3" name="Marcador de Posição da Dat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0B7ACA3-7E94-4C5D-BE8A-265C7DD50BE0}" type="datetimeFigureOut">
              <a:rPr lang="pt-PT" smtClean="0"/>
              <a:t>13/05/2026</a:t>
            </a:fld>
            <a:endParaRPr lang="pt-PT"/>
          </a:p>
        </p:txBody>
      </p:sp>
      <p:sp>
        <p:nvSpPr>
          <p:cNvPr id="4" name="Marcador de Posição da Imagem do Diapositivo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pt-PT"/>
          </a:p>
        </p:txBody>
      </p:sp>
      <p:sp>
        <p:nvSpPr>
          <p:cNvPr id="5" name="Marcador de Posição de Nota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pt-PT"/>
              <a:t>Clique para editar os estilos do texto de Modelo Global</a:t>
            </a:r>
          </a:p>
          <a:p>
            <a:pPr lvl="1"/>
            <a:r>
              <a:rPr lang="pt-PT"/>
              <a:t>Segundo nível</a:t>
            </a:r>
          </a:p>
          <a:p>
            <a:pPr lvl="2"/>
            <a:r>
              <a:rPr lang="pt-PT"/>
              <a:t>Terceiro nível</a:t>
            </a:r>
          </a:p>
          <a:p>
            <a:pPr lvl="3"/>
            <a:r>
              <a:rPr lang="pt-PT"/>
              <a:t>Quarto nível</a:t>
            </a:r>
          </a:p>
          <a:p>
            <a:pPr lvl="4"/>
            <a:r>
              <a:rPr lang="pt-PT"/>
              <a:t>Quinto nível</a:t>
            </a:r>
          </a:p>
        </p:txBody>
      </p:sp>
      <p:sp>
        <p:nvSpPr>
          <p:cNvPr id="6" name="Marcador de Posição do Rodapé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pt-PT"/>
          </a:p>
        </p:txBody>
      </p:sp>
      <p:sp>
        <p:nvSpPr>
          <p:cNvPr id="7" name="Marcador de Posição do Número do Diapositivo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B9C3AE8-2D35-47EC-8527-6014DF8AB4ED}" type="slidenum">
              <a:rPr lang="pt-PT" smtClean="0"/>
              <a:t>‹nº›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208483902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Posição da Imagem do Diapositivo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Posição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PT" dirty="0"/>
          </a:p>
        </p:txBody>
      </p:sp>
      <p:sp>
        <p:nvSpPr>
          <p:cNvPr id="4" name="Marcador de Posição do Número do Diapositivo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B9C3AE8-2D35-47EC-8527-6014DF8AB4ED}" type="slidenum">
              <a:rPr lang="pt-PT" smtClean="0"/>
              <a:t>1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217367490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5/13/2026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5/13/2026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5/13/2026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5/13/2026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5/13/2026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5/13/2026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5/13/2026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5/13/2026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5/13/2026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5/13/2026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5/13/2026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5/13/2026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sv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Relationship Id="rId5" Type="http://schemas.microsoft.com/office/2007/relationships/hdphoto" Target="../media/hdphoto1.wdp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8.png"/><Relationship Id="rId3" Type="http://schemas.openxmlformats.org/officeDocument/2006/relationships/image" Target="../media/image3.svg"/><Relationship Id="rId7" Type="http://schemas.openxmlformats.org/officeDocument/2006/relationships/image" Target="../media/image7.svg"/><Relationship Id="rId2" Type="http://schemas.openxmlformats.org/officeDocument/2006/relationships/image" Target="../media/image1.sv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6.png"/><Relationship Id="rId5" Type="http://schemas.openxmlformats.org/officeDocument/2006/relationships/image" Target="../media/image5.svg"/><Relationship Id="rId4" Type="http://schemas.openxmlformats.org/officeDocument/2006/relationships/image" Target="../media/image4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svg"/><Relationship Id="rId2" Type="http://schemas.openxmlformats.org/officeDocument/2006/relationships/image" Target="../media/image9.sv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3.png"/><Relationship Id="rId5" Type="http://schemas.openxmlformats.org/officeDocument/2006/relationships/image" Target="../media/image12.png"/><Relationship Id="rId4" Type="http://schemas.openxmlformats.org/officeDocument/2006/relationships/image" Target="../media/image11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sv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16.png"/><Relationship Id="rId4" Type="http://schemas.openxmlformats.org/officeDocument/2006/relationships/image" Target="../media/image15.sv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svg"/><Relationship Id="rId2" Type="http://schemas.openxmlformats.org/officeDocument/2006/relationships/image" Target="../media/image17.jpe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sv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23.png"/><Relationship Id="rId3" Type="http://schemas.openxmlformats.org/officeDocument/2006/relationships/image" Target="../media/image3.svg"/><Relationship Id="rId7" Type="http://schemas.openxmlformats.org/officeDocument/2006/relationships/image" Target="../media/image22.png"/><Relationship Id="rId2" Type="http://schemas.openxmlformats.org/officeDocument/2006/relationships/image" Target="../media/image1.sv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21.png"/><Relationship Id="rId5" Type="http://schemas.openxmlformats.org/officeDocument/2006/relationships/image" Target="../media/image20.png"/><Relationship Id="rId4" Type="http://schemas.openxmlformats.org/officeDocument/2006/relationships/image" Target="../media/image19.svg"/><Relationship Id="rId9" Type="http://schemas.openxmlformats.org/officeDocument/2006/relationships/image" Target="../media/image24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7.xml"/><Relationship Id="rId7" Type="http://schemas.openxmlformats.org/officeDocument/2006/relationships/image" Target="../media/image25.png"/><Relationship Id="rId2" Type="http://schemas.openxmlformats.org/officeDocument/2006/relationships/video" Target="../media/media1.mp4"/><Relationship Id="rId1" Type="http://schemas.microsoft.com/office/2007/relationships/media" Target="../media/media1.mp4"/><Relationship Id="rId6" Type="http://schemas.openxmlformats.org/officeDocument/2006/relationships/image" Target="../media/image19.svg"/><Relationship Id="rId5" Type="http://schemas.openxmlformats.org/officeDocument/2006/relationships/image" Target="../media/image3.svg"/><Relationship Id="rId4" Type="http://schemas.openxmlformats.org/officeDocument/2006/relationships/image" Target="../media/image1.svg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image" Target="../media/image31.png"/><Relationship Id="rId3" Type="http://schemas.openxmlformats.org/officeDocument/2006/relationships/image" Target="../media/image26.svg"/><Relationship Id="rId7" Type="http://schemas.openxmlformats.org/officeDocument/2006/relationships/image" Target="../media/image30.png"/><Relationship Id="rId2" Type="http://schemas.openxmlformats.org/officeDocument/2006/relationships/image" Target="../media/image9.sv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29.png"/><Relationship Id="rId5" Type="http://schemas.openxmlformats.org/officeDocument/2006/relationships/image" Target="../media/image28.png"/><Relationship Id="rId4" Type="http://schemas.openxmlformats.org/officeDocument/2006/relationships/image" Target="../media/image27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rgbClr val="131F40">
                <a:alpha val="100000"/>
              </a:srgbClr>
            </a:gs>
            <a:gs pos="100000">
              <a:srgbClr val="214859">
                <a:alpha val="100000"/>
              </a:srgbClr>
            </a:gs>
          </a:gsLst>
          <a:lin ang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-4659659" y="-27352"/>
            <a:ext cx="11376719" cy="11376719"/>
          </a:xfrm>
          <a:custGeom>
            <a:avLst/>
            <a:gdLst/>
            <a:ahLst/>
            <a:cxnLst/>
            <a:rect l="l" t="t" r="r" b="b"/>
            <a:pathLst>
              <a:path w="11376719" h="11376719">
                <a:moveTo>
                  <a:pt x="0" y="0"/>
                </a:moveTo>
                <a:lnTo>
                  <a:pt x="11376718" y="0"/>
                </a:lnTo>
                <a:lnTo>
                  <a:pt x="11376718" y="11376719"/>
                </a:lnTo>
                <a:lnTo>
                  <a:pt x="0" y="11376719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pt-PT"/>
          </a:p>
        </p:txBody>
      </p:sp>
      <p:sp>
        <p:nvSpPr>
          <p:cNvPr id="3" name="Freeform 3"/>
          <p:cNvSpPr/>
          <p:nvPr/>
        </p:nvSpPr>
        <p:spPr>
          <a:xfrm>
            <a:off x="-4385996" y="992235"/>
            <a:ext cx="14760053" cy="8302530"/>
          </a:xfrm>
          <a:custGeom>
            <a:avLst/>
            <a:gdLst/>
            <a:ahLst/>
            <a:cxnLst/>
            <a:rect l="l" t="t" r="r" b="b"/>
            <a:pathLst>
              <a:path w="14760053" h="8302530">
                <a:moveTo>
                  <a:pt x="0" y="0"/>
                </a:moveTo>
                <a:lnTo>
                  <a:pt x="14760053" y="0"/>
                </a:lnTo>
                <a:lnTo>
                  <a:pt x="14760053" y="8302530"/>
                </a:lnTo>
                <a:lnTo>
                  <a:pt x="0" y="8302530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alphaModFix/>
              <a:extLst>
                <a:ext uri="{BEBA8EAE-BF5A-486C-A8C5-ECC9F3942E4B}">
                  <a14:imgProps xmlns:a14="http://schemas.microsoft.com/office/drawing/2010/main">
                    <a14:imgLayer r:embed="rId5">
                      <a14:imgEffect>
                        <a14:colorTemperature colorTemp="5900"/>
                      </a14:imgEffect>
                      <a14:imgEffect>
                        <a14:brightnessContrast contrast="-20000"/>
                      </a14:imgEffect>
                    </a14:imgLayer>
                  </a14:imgProps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pt-PT"/>
          </a:p>
        </p:txBody>
      </p:sp>
      <p:sp>
        <p:nvSpPr>
          <p:cNvPr id="4" name="TextBox 4"/>
          <p:cNvSpPr txBox="1"/>
          <p:nvPr/>
        </p:nvSpPr>
        <p:spPr>
          <a:xfrm>
            <a:off x="7363912" y="1504950"/>
            <a:ext cx="10542241" cy="30670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5853"/>
              </a:lnSpc>
            </a:pPr>
            <a:r>
              <a:rPr lang="en-US" sz="4878">
                <a:solidFill>
                  <a:srgbClr val="84E3F8"/>
                </a:solidFill>
                <a:latin typeface="Antique Olive"/>
                <a:ea typeface="Antique Olive"/>
                <a:cs typeface="Antique Olive"/>
                <a:sym typeface="Antique Olive"/>
              </a:rPr>
              <a:t>Comparative Evaluation of</a:t>
            </a:r>
          </a:p>
          <a:p>
            <a:pPr algn="ctr">
              <a:lnSpc>
                <a:spcPts val="5853"/>
              </a:lnSpc>
            </a:pPr>
            <a:r>
              <a:rPr lang="en-US" sz="4878">
                <a:solidFill>
                  <a:srgbClr val="84E3F8"/>
                </a:solidFill>
                <a:latin typeface="Antique Olive"/>
                <a:ea typeface="Antique Olive"/>
                <a:cs typeface="Antique Olive"/>
                <a:sym typeface="Antique Olive"/>
              </a:rPr>
              <a:t>Autonomous Service Robot          in Restaurant Environments</a:t>
            </a:r>
          </a:p>
          <a:p>
            <a:pPr algn="r">
              <a:lnSpc>
                <a:spcPts val="5853"/>
              </a:lnSpc>
            </a:pPr>
            <a:endParaRPr lang="en-US" sz="4878">
              <a:solidFill>
                <a:srgbClr val="84E3F8"/>
              </a:solidFill>
              <a:latin typeface="Antique Olive"/>
              <a:ea typeface="Antique Olive"/>
              <a:cs typeface="Antique Olive"/>
              <a:sym typeface="Antique Olive"/>
            </a:endParaRPr>
          </a:p>
        </p:txBody>
      </p:sp>
      <p:sp>
        <p:nvSpPr>
          <p:cNvPr id="5" name="AutoShape 5"/>
          <p:cNvSpPr/>
          <p:nvPr/>
        </p:nvSpPr>
        <p:spPr>
          <a:xfrm>
            <a:off x="9918043" y="4302249"/>
            <a:ext cx="5650981" cy="0"/>
          </a:xfrm>
          <a:prstGeom prst="line">
            <a:avLst/>
          </a:prstGeom>
          <a:ln w="3810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pt-PT"/>
          </a:p>
        </p:txBody>
      </p:sp>
      <p:sp>
        <p:nvSpPr>
          <p:cNvPr id="6" name="TextBox 6"/>
          <p:cNvSpPr txBox="1"/>
          <p:nvPr/>
        </p:nvSpPr>
        <p:spPr>
          <a:xfrm>
            <a:off x="9572030" y="5342008"/>
            <a:ext cx="6734770" cy="26930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2059"/>
              </a:lnSpc>
              <a:spcBef>
                <a:spcPct val="0"/>
              </a:spcBef>
            </a:pPr>
            <a:r>
              <a:rPr lang="en-US" sz="2059" dirty="0">
                <a:solidFill>
                  <a:srgbClr val="FFFFFF"/>
                </a:solidFill>
                <a:latin typeface="Antique Olive"/>
                <a:ea typeface="Antique Olive"/>
                <a:cs typeface="Antique Olive"/>
                <a:sym typeface="Antique Olive"/>
              </a:rPr>
              <a:t>Catarina Fernandes  · Leonor Baía  · Pedro Ferreira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9051286" y="4719138"/>
            <a:ext cx="7636002" cy="42810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924"/>
              </a:lnSpc>
              <a:spcBef>
                <a:spcPct val="0"/>
              </a:spcBef>
            </a:pPr>
            <a:r>
              <a:rPr lang="en-US" sz="2437">
                <a:solidFill>
                  <a:srgbClr val="FFFFFF"/>
                </a:solidFill>
                <a:latin typeface="Antique Olive"/>
                <a:ea typeface="Antique Olive"/>
                <a:cs typeface="Antique Olive"/>
                <a:sym typeface="Antique Olive"/>
              </a:rPr>
              <a:t>Introduction to Intelligent Robotics · Checkpoint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rgbClr val="131F40">
                <a:alpha val="100000"/>
              </a:srgbClr>
            </a:gs>
            <a:gs pos="100000">
              <a:srgbClr val="214859">
                <a:alpha val="100000"/>
              </a:srgbClr>
            </a:gs>
          </a:gsLst>
          <a:lin ang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15313909" y="6006375"/>
            <a:ext cx="5948182" cy="5948182"/>
          </a:xfrm>
          <a:custGeom>
            <a:avLst/>
            <a:gdLst/>
            <a:ahLst/>
            <a:cxnLst/>
            <a:rect l="l" t="t" r="r" b="b"/>
            <a:pathLst>
              <a:path w="5948182" h="5948182">
                <a:moveTo>
                  <a:pt x="0" y="0"/>
                </a:moveTo>
                <a:lnTo>
                  <a:pt x="5948182" y="0"/>
                </a:lnTo>
                <a:lnTo>
                  <a:pt x="5948182" y="5948182"/>
                </a:lnTo>
                <a:lnTo>
                  <a:pt x="0" y="5948182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pt-PT"/>
          </a:p>
        </p:txBody>
      </p:sp>
      <p:sp>
        <p:nvSpPr>
          <p:cNvPr id="3" name="Freeform 3"/>
          <p:cNvSpPr/>
          <p:nvPr/>
        </p:nvSpPr>
        <p:spPr>
          <a:xfrm rot="1210647">
            <a:off x="-3713134" y="-1249856"/>
            <a:ext cx="4692353" cy="4692353"/>
          </a:xfrm>
          <a:custGeom>
            <a:avLst/>
            <a:gdLst/>
            <a:ahLst/>
            <a:cxnLst/>
            <a:rect l="l" t="t" r="r" b="b"/>
            <a:pathLst>
              <a:path w="4692353" h="4692353">
                <a:moveTo>
                  <a:pt x="0" y="0"/>
                </a:moveTo>
                <a:lnTo>
                  <a:pt x="4692353" y="0"/>
                </a:lnTo>
                <a:lnTo>
                  <a:pt x="4692353" y="4692353"/>
                </a:lnTo>
                <a:lnTo>
                  <a:pt x="0" y="4692353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pt-PT"/>
          </a:p>
        </p:txBody>
      </p:sp>
      <p:sp>
        <p:nvSpPr>
          <p:cNvPr id="4" name="Freeform 4"/>
          <p:cNvSpPr/>
          <p:nvPr/>
        </p:nvSpPr>
        <p:spPr>
          <a:xfrm>
            <a:off x="605092" y="3148756"/>
            <a:ext cx="3836056" cy="5200243"/>
          </a:xfrm>
          <a:custGeom>
            <a:avLst/>
            <a:gdLst/>
            <a:ahLst/>
            <a:cxnLst/>
            <a:rect l="l" t="t" r="r" b="b"/>
            <a:pathLst>
              <a:path w="3836056" h="5200243">
                <a:moveTo>
                  <a:pt x="0" y="0"/>
                </a:moveTo>
                <a:lnTo>
                  <a:pt x="3836056" y="0"/>
                </a:lnTo>
                <a:lnTo>
                  <a:pt x="3836056" y="5200243"/>
                </a:lnTo>
                <a:lnTo>
                  <a:pt x="0" y="5200243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-28805" r="-72601"/>
            </a:stretch>
          </a:blipFill>
        </p:spPr>
        <p:txBody>
          <a:bodyPr/>
          <a:lstStyle/>
          <a:p>
            <a:endParaRPr lang="pt-PT"/>
          </a:p>
        </p:txBody>
      </p:sp>
      <p:sp>
        <p:nvSpPr>
          <p:cNvPr id="5" name="Freeform 5"/>
          <p:cNvSpPr/>
          <p:nvPr/>
        </p:nvSpPr>
        <p:spPr>
          <a:xfrm>
            <a:off x="4964102" y="3148756"/>
            <a:ext cx="3836056" cy="5200243"/>
          </a:xfrm>
          <a:custGeom>
            <a:avLst/>
            <a:gdLst/>
            <a:ahLst/>
            <a:cxnLst/>
            <a:rect l="l" t="t" r="r" b="b"/>
            <a:pathLst>
              <a:path w="3836056" h="5200243">
                <a:moveTo>
                  <a:pt x="0" y="0"/>
                </a:moveTo>
                <a:lnTo>
                  <a:pt x="3836056" y="0"/>
                </a:lnTo>
                <a:lnTo>
                  <a:pt x="3836056" y="5200243"/>
                </a:lnTo>
                <a:lnTo>
                  <a:pt x="0" y="5200243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-28805" r="-72601"/>
            </a:stretch>
          </a:blipFill>
        </p:spPr>
        <p:txBody>
          <a:bodyPr/>
          <a:lstStyle/>
          <a:p>
            <a:endParaRPr lang="pt-PT"/>
          </a:p>
        </p:txBody>
      </p:sp>
      <p:sp>
        <p:nvSpPr>
          <p:cNvPr id="6" name="Freeform 6"/>
          <p:cNvSpPr/>
          <p:nvPr/>
        </p:nvSpPr>
        <p:spPr>
          <a:xfrm>
            <a:off x="9324033" y="3148756"/>
            <a:ext cx="3836056" cy="5200243"/>
          </a:xfrm>
          <a:custGeom>
            <a:avLst/>
            <a:gdLst/>
            <a:ahLst/>
            <a:cxnLst/>
            <a:rect l="l" t="t" r="r" b="b"/>
            <a:pathLst>
              <a:path w="3836056" h="5200243">
                <a:moveTo>
                  <a:pt x="0" y="0"/>
                </a:moveTo>
                <a:lnTo>
                  <a:pt x="3836056" y="0"/>
                </a:lnTo>
                <a:lnTo>
                  <a:pt x="3836056" y="5200243"/>
                </a:lnTo>
                <a:lnTo>
                  <a:pt x="0" y="5200243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-28805" r="-72601"/>
            </a:stretch>
          </a:blipFill>
        </p:spPr>
        <p:txBody>
          <a:bodyPr/>
          <a:lstStyle/>
          <a:p>
            <a:endParaRPr lang="pt-PT"/>
          </a:p>
        </p:txBody>
      </p:sp>
      <p:sp>
        <p:nvSpPr>
          <p:cNvPr id="7" name="Freeform 7"/>
          <p:cNvSpPr/>
          <p:nvPr/>
        </p:nvSpPr>
        <p:spPr>
          <a:xfrm>
            <a:off x="13683964" y="3148756"/>
            <a:ext cx="3836056" cy="5200243"/>
          </a:xfrm>
          <a:custGeom>
            <a:avLst/>
            <a:gdLst/>
            <a:ahLst/>
            <a:cxnLst/>
            <a:rect l="l" t="t" r="r" b="b"/>
            <a:pathLst>
              <a:path w="3836056" h="5200243">
                <a:moveTo>
                  <a:pt x="0" y="0"/>
                </a:moveTo>
                <a:lnTo>
                  <a:pt x="3836056" y="0"/>
                </a:lnTo>
                <a:lnTo>
                  <a:pt x="3836056" y="5200243"/>
                </a:lnTo>
                <a:lnTo>
                  <a:pt x="0" y="5200243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-28805" r="-72601"/>
            </a:stretch>
          </a:blipFill>
        </p:spPr>
        <p:txBody>
          <a:bodyPr/>
          <a:lstStyle/>
          <a:p>
            <a:endParaRPr lang="pt-PT"/>
          </a:p>
        </p:txBody>
      </p:sp>
      <p:sp>
        <p:nvSpPr>
          <p:cNvPr id="8" name="TextBox 8"/>
          <p:cNvSpPr txBox="1"/>
          <p:nvPr/>
        </p:nvSpPr>
        <p:spPr>
          <a:xfrm>
            <a:off x="13902003" y="5086350"/>
            <a:ext cx="3498615" cy="27241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012"/>
              </a:lnSpc>
              <a:spcBef>
                <a:spcPct val="0"/>
              </a:spcBef>
            </a:pPr>
            <a:r>
              <a:rPr lang="en-US" sz="2510">
                <a:gradFill>
                  <a:gsLst>
                    <a:gs pos="0">
                      <a:srgbClr val="131F40">
                        <a:alpha val="100000"/>
                      </a:srgbClr>
                    </a:gs>
                    <a:gs pos="100000">
                      <a:srgbClr val="214859">
                        <a:alpha val="100000"/>
                      </a:srgbClr>
                    </a:gs>
                  </a:gsLst>
                  <a:lin ang="0"/>
                </a:gradFill>
                <a:latin typeface="Antique Olive"/>
                <a:ea typeface="Antique Olive"/>
                <a:cs typeface="Antique Olive"/>
                <a:sym typeface="Antique Olive"/>
              </a:rPr>
              <a:t>Receive table request</a:t>
            </a:r>
          </a:p>
          <a:p>
            <a:pPr algn="ctr">
              <a:lnSpc>
                <a:spcPts val="3012"/>
              </a:lnSpc>
              <a:spcBef>
                <a:spcPct val="0"/>
              </a:spcBef>
            </a:pPr>
            <a:r>
              <a:rPr lang="en-US" sz="2510">
                <a:gradFill>
                  <a:gsLst>
                    <a:gs pos="0">
                      <a:srgbClr val="131F40">
                        <a:alpha val="100000"/>
                      </a:srgbClr>
                    </a:gs>
                    <a:gs pos="100000">
                      <a:srgbClr val="214859">
                        <a:alpha val="100000"/>
                      </a:srgbClr>
                    </a:gs>
                  </a:gsLst>
                  <a:lin ang="0"/>
                </a:gradFill>
                <a:latin typeface="Antique Olive"/>
                <a:ea typeface="Antique Olive"/>
                <a:cs typeface="Antique Olive"/>
                <a:sym typeface="Antique Olive"/>
              </a:rPr>
              <a:t>  </a:t>
            </a:r>
          </a:p>
          <a:p>
            <a:pPr algn="ctr">
              <a:lnSpc>
                <a:spcPts val="3012"/>
              </a:lnSpc>
              <a:spcBef>
                <a:spcPct val="0"/>
              </a:spcBef>
            </a:pPr>
            <a:r>
              <a:rPr lang="en-US" sz="2510">
                <a:gradFill>
                  <a:gsLst>
                    <a:gs pos="0">
                      <a:srgbClr val="131F40">
                        <a:alpha val="100000"/>
                      </a:srgbClr>
                    </a:gs>
                    <a:gs pos="100000">
                      <a:srgbClr val="214859">
                        <a:alpha val="100000"/>
                      </a:srgbClr>
                    </a:gs>
                  </a:gsLst>
                  <a:lin ang="0"/>
                </a:gradFill>
                <a:latin typeface="Antique Olive"/>
                <a:ea typeface="Antique Olive"/>
                <a:cs typeface="Antique Olive"/>
                <a:sym typeface="Antique Olive"/>
              </a:rPr>
              <a:t>navigate to table</a:t>
            </a:r>
          </a:p>
          <a:p>
            <a:pPr algn="ctr">
              <a:lnSpc>
                <a:spcPts val="3012"/>
              </a:lnSpc>
              <a:spcBef>
                <a:spcPct val="0"/>
              </a:spcBef>
            </a:pPr>
            <a:endParaRPr lang="en-US" sz="2510">
              <a:gradFill>
                <a:gsLst>
                  <a:gs pos="0">
                    <a:srgbClr val="131F40">
                      <a:alpha val="100000"/>
                    </a:srgbClr>
                  </a:gs>
                  <a:gs pos="100000">
                    <a:srgbClr val="214859">
                      <a:alpha val="100000"/>
                    </a:srgbClr>
                  </a:gs>
                </a:gsLst>
                <a:lin ang="0"/>
              </a:gradFill>
              <a:latin typeface="Antique Olive"/>
              <a:ea typeface="Antique Olive"/>
              <a:cs typeface="Antique Olive"/>
              <a:sym typeface="Antique Olive"/>
            </a:endParaRPr>
          </a:p>
          <a:p>
            <a:pPr algn="ctr">
              <a:lnSpc>
                <a:spcPts val="3012"/>
              </a:lnSpc>
              <a:spcBef>
                <a:spcPct val="0"/>
              </a:spcBef>
            </a:pPr>
            <a:r>
              <a:rPr lang="en-US" sz="2510">
                <a:gradFill>
                  <a:gsLst>
                    <a:gs pos="0">
                      <a:srgbClr val="131F40">
                        <a:alpha val="100000"/>
                      </a:srgbClr>
                    </a:gs>
                    <a:gs pos="100000">
                      <a:srgbClr val="214859">
                        <a:alpha val="100000"/>
                      </a:srgbClr>
                    </a:gs>
                  </a:gsLst>
                  <a:lin ang="0"/>
                </a:gradFill>
                <a:latin typeface="Antique Olive"/>
                <a:ea typeface="Antique Olive"/>
                <a:cs typeface="Antique Olive"/>
                <a:sym typeface="Antique Olive"/>
              </a:rPr>
              <a:t>serve (2s)</a:t>
            </a:r>
          </a:p>
          <a:p>
            <a:pPr algn="ctr">
              <a:lnSpc>
                <a:spcPts val="3012"/>
              </a:lnSpc>
              <a:spcBef>
                <a:spcPct val="0"/>
              </a:spcBef>
            </a:pPr>
            <a:endParaRPr lang="en-US" sz="2510">
              <a:gradFill>
                <a:gsLst>
                  <a:gs pos="0">
                    <a:srgbClr val="131F40">
                      <a:alpha val="100000"/>
                    </a:srgbClr>
                  </a:gs>
                  <a:gs pos="100000">
                    <a:srgbClr val="214859">
                      <a:alpha val="100000"/>
                    </a:srgbClr>
                  </a:gs>
                </a:gsLst>
                <a:lin ang="0"/>
              </a:gradFill>
              <a:latin typeface="Antique Olive"/>
              <a:ea typeface="Antique Olive"/>
              <a:cs typeface="Antique Olive"/>
              <a:sym typeface="Antique Olive"/>
            </a:endParaRPr>
          </a:p>
          <a:p>
            <a:pPr algn="ctr">
              <a:lnSpc>
                <a:spcPts val="3012"/>
              </a:lnSpc>
              <a:spcBef>
                <a:spcPct val="0"/>
              </a:spcBef>
            </a:pPr>
            <a:r>
              <a:rPr lang="en-US" sz="2510">
                <a:gradFill>
                  <a:gsLst>
                    <a:gs pos="0">
                      <a:srgbClr val="131F40">
                        <a:alpha val="100000"/>
                      </a:srgbClr>
                    </a:gs>
                    <a:gs pos="100000">
                      <a:srgbClr val="214859">
                        <a:alpha val="100000"/>
                      </a:srgbClr>
                    </a:gs>
                  </a:gsLst>
                  <a:lin ang="0"/>
                </a:gradFill>
                <a:latin typeface="Antique Olive"/>
                <a:ea typeface="Antique Olive"/>
                <a:cs typeface="Antique Olive"/>
                <a:sym typeface="Antique Olive"/>
              </a:rPr>
              <a:t>return to base</a:t>
            </a:r>
          </a:p>
        </p:txBody>
      </p:sp>
      <p:sp>
        <p:nvSpPr>
          <p:cNvPr id="9" name="AutoShape 9"/>
          <p:cNvSpPr/>
          <p:nvPr/>
        </p:nvSpPr>
        <p:spPr>
          <a:xfrm flipH="1">
            <a:off x="15563892" y="5474065"/>
            <a:ext cx="0" cy="431435"/>
          </a:xfrm>
          <a:prstGeom prst="line">
            <a:avLst/>
          </a:prstGeom>
          <a:ln w="38100" cap="flat">
            <a:solidFill>
              <a:srgbClr val="57A2C2"/>
            </a:solidFill>
            <a:prstDash val="solid"/>
            <a:headEnd type="none" w="sm" len="sm"/>
            <a:tailEnd type="triangle" w="lg" len="med"/>
          </a:ln>
        </p:spPr>
        <p:txBody>
          <a:bodyPr/>
          <a:lstStyle/>
          <a:p>
            <a:endParaRPr lang="pt-PT"/>
          </a:p>
        </p:txBody>
      </p:sp>
      <p:sp>
        <p:nvSpPr>
          <p:cNvPr id="10" name="AutoShape 10"/>
          <p:cNvSpPr/>
          <p:nvPr/>
        </p:nvSpPr>
        <p:spPr>
          <a:xfrm flipH="1">
            <a:off x="15563892" y="6261283"/>
            <a:ext cx="0" cy="431435"/>
          </a:xfrm>
          <a:prstGeom prst="line">
            <a:avLst/>
          </a:prstGeom>
          <a:ln w="38100" cap="flat">
            <a:solidFill>
              <a:srgbClr val="57A2C2"/>
            </a:solidFill>
            <a:prstDash val="solid"/>
            <a:headEnd type="none" w="sm" len="sm"/>
            <a:tailEnd type="triangle" w="lg" len="med"/>
          </a:ln>
        </p:spPr>
        <p:txBody>
          <a:bodyPr/>
          <a:lstStyle/>
          <a:p>
            <a:endParaRPr lang="pt-PT"/>
          </a:p>
        </p:txBody>
      </p:sp>
      <p:sp>
        <p:nvSpPr>
          <p:cNvPr id="11" name="AutoShape 11"/>
          <p:cNvSpPr/>
          <p:nvPr/>
        </p:nvSpPr>
        <p:spPr>
          <a:xfrm flipH="1">
            <a:off x="15549783" y="6995869"/>
            <a:ext cx="0" cy="431435"/>
          </a:xfrm>
          <a:prstGeom prst="line">
            <a:avLst/>
          </a:prstGeom>
          <a:ln w="38100" cap="flat">
            <a:solidFill>
              <a:srgbClr val="57A2C2"/>
            </a:solidFill>
            <a:prstDash val="solid"/>
            <a:headEnd type="none" w="sm" len="sm"/>
            <a:tailEnd type="triangle" w="lg" len="med"/>
          </a:ln>
        </p:spPr>
        <p:txBody>
          <a:bodyPr/>
          <a:lstStyle/>
          <a:p>
            <a:endParaRPr lang="pt-PT"/>
          </a:p>
        </p:txBody>
      </p:sp>
      <p:sp>
        <p:nvSpPr>
          <p:cNvPr id="12" name="Freeform 12"/>
          <p:cNvSpPr/>
          <p:nvPr/>
        </p:nvSpPr>
        <p:spPr>
          <a:xfrm>
            <a:off x="2023033" y="3346552"/>
            <a:ext cx="1000174" cy="1001996"/>
          </a:xfrm>
          <a:custGeom>
            <a:avLst/>
            <a:gdLst/>
            <a:ahLst/>
            <a:cxnLst/>
            <a:rect l="l" t="t" r="r" b="b"/>
            <a:pathLst>
              <a:path w="1000174" h="1001996">
                <a:moveTo>
                  <a:pt x="0" y="0"/>
                </a:moveTo>
                <a:lnTo>
                  <a:pt x="1000174" y="0"/>
                </a:lnTo>
                <a:lnTo>
                  <a:pt x="1000174" y="1001995"/>
                </a:lnTo>
                <a:lnTo>
                  <a:pt x="0" y="1001995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pt-PT"/>
          </a:p>
        </p:txBody>
      </p:sp>
      <p:sp>
        <p:nvSpPr>
          <p:cNvPr id="13" name="Freeform 13"/>
          <p:cNvSpPr/>
          <p:nvPr/>
        </p:nvSpPr>
        <p:spPr>
          <a:xfrm>
            <a:off x="6404034" y="3389530"/>
            <a:ext cx="956193" cy="959018"/>
          </a:xfrm>
          <a:custGeom>
            <a:avLst/>
            <a:gdLst/>
            <a:ahLst/>
            <a:cxnLst/>
            <a:rect l="l" t="t" r="r" b="b"/>
            <a:pathLst>
              <a:path w="956193" h="959018">
                <a:moveTo>
                  <a:pt x="0" y="0"/>
                </a:moveTo>
                <a:lnTo>
                  <a:pt x="956193" y="0"/>
                </a:lnTo>
                <a:lnTo>
                  <a:pt x="956193" y="959017"/>
                </a:lnTo>
                <a:lnTo>
                  <a:pt x="0" y="959017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>
              <a:fillRect b="-52752"/>
            </a:stretch>
          </a:blipFill>
        </p:spPr>
        <p:txBody>
          <a:bodyPr/>
          <a:lstStyle/>
          <a:p>
            <a:endParaRPr lang="pt-PT"/>
          </a:p>
        </p:txBody>
      </p:sp>
      <p:sp>
        <p:nvSpPr>
          <p:cNvPr id="14" name="Freeform 14"/>
          <p:cNvSpPr/>
          <p:nvPr/>
        </p:nvSpPr>
        <p:spPr>
          <a:xfrm>
            <a:off x="10704277" y="3294705"/>
            <a:ext cx="1075569" cy="1148666"/>
          </a:xfrm>
          <a:custGeom>
            <a:avLst/>
            <a:gdLst/>
            <a:ahLst/>
            <a:cxnLst/>
            <a:rect l="l" t="t" r="r" b="b"/>
            <a:pathLst>
              <a:path w="1075569" h="1148666">
                <a:moveTo>
                  <a:pt x="0" y="0"/>
                </a:moveTo>
                <a:lnTo>
                  <a:pt x="1075569" y="0"/>
                </a:lnTo>
                <a:lnTo>
                  <a:pt x="1075569" y="1148666"/>
                </a:lnTo>
                <a:lnTo>
                  <a:pt x="0" y="1148666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pt-PT"/>
          </a:p>
        </p:txBody>
      </p:sp>
      <p:sp>
        <p:nvSpPr>
          <p:cNvPr id="15" name="Freeform 15"/>
          <p:cNvSpPr/>
          <p:nvPr/>
        </p:nvSpPr>
        <p:spPr>
          <a:xfrm>
            <a:off x="15298272" y="3389530"/>
            <a:ext cx="706077" cy="959018"/>
          </a:xfrm>
          <a:custGeom>
            <a:avLst/>
            <a:gdLst/>
            <a:ahLst/>
            <a:cxnLst/>
            <a:rect l="l" t="t" r="r" b="b"/>
            <a:pathLst>
              <a:path w="706077" h="959018">
                <a:moveTo>
                  <a:pt x="0" y="0"/>
                </a:moveTo>
                <a:lnTo>
                  <a:pt x="706077" y="0"/>
                </a:lnTo>
                <a:lnTo>
                  <a:pt x="706077" y="959017"/>
                </a:lnTo>
                <a:lnTo>
                  <a:pt x="0" y="959017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>
              <a:fillRect/>
            </a:stretch>
          </a:blipFill>
        </p:spPr>
        <p:txBody>
          <a:bodyPr/>
          <a:lstStyle/>
          <a:p>
            <a:endParaRPr lang="pt-PT"/>
          </a:p>
        </p:txBody>
      </p:sp>
      <p:sp>
        <p:nvSpPr>
          <p:cNvPr id="16" name="TextBox 16"/>
          <p:cNvSpPr txBox="1"/>
          <p:nvPr/>
        </p:nvSpPr>
        <p:spPr>
          <a:xfrm>
            <a:off x="6133158" y="561975"/>
            <a:ext cx="5334000" cy="8382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5853"/>
              </a:lnSpc>
              <a:spcBef>
                <a:spcPct val="0"/>
              </a:spcBef>
            </a:pPr>
            <a:r>
              <a:rPr lang="en-US" sz="4878">
                <a:solidFill>
                  <a:srgbClr val="FFFFFF"/>
                </a:solidFill>
                <a:latin typeface="Antique Olive"/>
                <a:ea typeface="Antique Olive"/>
                <a:cs typeface="Antique Olive"/>
                <a:sym typeface="Antique Olive"/>
              </a:rPr>
              <a:t>Project Overview</a:t>
            </a:r>
          </a:p>
        </p:txBody>
      </p:sp>
      <p:sp>
        <p:nvSpPr>
          <p:cNvPr id="17" name="TextBox 17"/>
          <p:cNvSpPr txBox="1"/>
          <p:nvPr/>
        </p:nvSpPr>
        <p:spPr>
          <a:xfrm>
            <a:off x="477097" y="5086350"/>
            <a:ext cx="4092047" cy="234095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014"/>
              </a:lnSpc>
              <a:spcBef>
                <a:spcPct val="0"/>
              </a:spcBef>
            </a:pPr>
            <a:r>
              <a:rPr lang="en-US" sz="2511">
                <a:gradFill>
                  <a:gsLst>
                    <a:gs pos="0">
                      <a:srgbClr val="131F40">
                        <a:alpha val="100000"/>
                      </a:srgbClr>
                    </a:gs>
                    <a:gs pos="100000">
                      <a:srgbClr val="214859">
                        <a:alpha val="100000"/>
                      </a:srgbClr>
                    </a:gs>
                  </a:gsLst>
                  <a:lin ang="0"/>
                </a:gradFill>
                <a:latin typeface="Antique Olive"/>
                <a:ea typeface="Antique Olive"/>
                <a:cs typeface="Antique Olive"/>
                <a:sym typeface="Antique Olive"/>
              </a:rPr>
              <a:t>Study how environmental knowledge affects performance of autonomous waiter robots </a:t>
            </a:r>
          </a:p>
        </p:txBody>
      </p:sp>
      <p:sp>
        <p:nvSpPr>
          <p:cNvPr id="18" name="TextBox 18"/>
          <p:cNvSpPr txBox="1"/>
          <p:nvPr/>
        </p:nvSpPr>
        <p:spPr>
          <a:xfrm>
            <a:off x="5203473" y="5086350"/>
            <a:ext cx="3486230" cy="15811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012"/>
              </a:lnSpc>
              <a:spcBef>
                <a:spcPct val="0"/>
              </a:spcBef>
            </a:pPr>
            <a:r>
              <a:rPr lang="en-US" sz="2510">
                <a:gradFill>
                  <a:gsLst>
                    <a:gs pos="0">
                      <a:srgbClr val="131F40">
                        <a:alpha val="100000"/>
                      </a:srgbClr>
                    </a:gs>
                    <a:gs pos="100000">
                      <a:srgbClr val="214859">
                        <a:alpha val="100000"/>
                      </a:srgbClr>
                    </a:gs>
                  </a:gsLst>
                  <a:lin ang="0"/>
                </a:gradFill>
                <a:latin typeface="Antique Olive"/>
                <a:ea typeface="Antique Olive"/>
                <a:cs typeface="Antique Olive"/>
                <a:sym typeface="Antique Olive"/>
              </a:rPr>
              <a:t>e-puck robot with LiDAR sensor + wheel encoders in Webots simulation</a:t>
            </a:r>
          </a:p>
        </p:txBody>
      </p:sp>
      <p:sp>
        <p:nvSpPr>
          <p:cNvPr id="19" name="TextBox 19"/>
          <p:cNvSpPr txBox="1"/>
          <p:nvPr/>
        </p:nvSpPr>
        <p:spPr>
          <a:xfrm>
            <a:off x="9477469" y="5086350"/>
            <a:ext cx="3748259" cy="27241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011"/>
              </a:lnSpc>
              <a:spcBef>
                <a:spcPct val="0"/>
              </a:spcBef>
            </a:pPr>
            <a:r>
              <a:rPr lang="en-US" sz="2509">
                <a:gradFill>
                  <a:gsLst>
                    <a:gs pos="0">
                      <a:srgbClr val="131F40">
                        <a:alpha val="100000"/>
                      </a:srgbClr>
                    </a:gs>
                    <a:gs pos="100000">
                      <a:srgbClr val="214859">
                        <a:alpha val="100000"/>
                      </a:srgbClr>
                    </a:gs>
                  </a:gsLst>
                  <a:lin ang="0"/>
                </a:gradFill>
                <a:latin typeface="Antique Olive"/>
                <a:ea typeface="Antique Olive"/>
                <a:cs typeface="Antique Olive"/>
                <a:sym typeface="Antique Olive"/>
              </a:rPr>
              <a:t>Restaurant with 6 tables, 4 chairs each table, 4 walls, 4 corner plants and robot’s base — modelled in Blender, exported to Webots</a:t>
            </a:r>
          </a:p>
        </p:txBody>
      </p:sp>
      <p:sp>
        <p:nvSpPr>
          <p:cNvPr id="20" name="TextBox 20"/>
          <p:cNvSpPr txBox="1"/>
          <p:nvPr/>
        </p:nvSpPr>
        <p:spPr>
          <a:xfrm>
            <a:off x="2084707" y="4498374"/>
            <a:ext cx="810893" cy="384721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3012"/>
              </a:lnSpc>
              <a:spcBef>
                <a:spcPct val="0"/>
              </a:spcBef>
            </a:pPr>
            <a:r>
              <a:rPr lang="en-US" sz="2510" dirty="0">
                <a:solidFill>
                  <a:srgbClr val="000000"/>
                </a:solidFill>
                <a:latin typeface="Antique Olive"/>
                <a:ea typeface="Antique Olive"/>
                <a:cs typeface="Antique Olive"/>
                <a:sym typeface="Antique Olive"/>
              </a:rPr>
              <a:t>Goal</a:t>
            </a:r>
          </a:p>
        </p:txBody>
      </p:sp>
      <p:sp>
        <p:nvSpPr>
          <p:cNvPr id="21" name="TextBox 21"/>
          <p:cNvSpPr txBox="1"/>
          <p:nvPr/>
        </p:nvSpPr>
        <p:spPr>
          <a:xfrm>
            <a:off x="6173828" y="4498374"/>
            <a:ext cx="1446172" cy="384721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3012"/>
              </a:lnSpc>
              <a:spcBef>
                <a:spcPct val="0"/>
              </a:spcBef>
            </a:pPr>
            <a:r>
              <a:rPr lang="en-US" sz="2510" dirty="0">
                <a:solidFill>
                  <a:srgbClr val="000000"/>
                </a:solidFill>
                <a:latin typeface="Antique Olive"/>
                <a:ea typeface="Antique Olive"/>
                <a:cs typeface="Antique Olive"/>
                <a:sym typeface="Antique Olive"/>
              </a:rPr>
              <a:t>Platform</a:t>
            </a:r>
          </a:p>
        </p:txBody>
      </p:sp>
      <p:sp>
        <p:nvSpPr>
          <p:cNvPr id="22" name="TextBox 22"/>
          <p:cNvSpPr txBox="1"/>
          <p:nvPr/>
        </p:nvSpPr>
        <p:spPr>
          <a:xfrm>
            <a:off x="10188418" y="4498374"/>
            <a:ext cx="2155982" cy="384721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3012"/>
              </a:lnSpc>
              <a:spcBef>
                <a:spcPct val="0"/>
              </a:spcBef>
            </a:pPr>
            <a:r>
              <a:rPr lang="en-US" sz="2510" dirty="0">
                <a:solidFill>
                  <a:srgbClr val="000000"/>
                </a:solidFill>
                <a:latin typeface="Antique Olive"/>
                <a:ea typeface="Antique Olive"/>
                <a:cs typeface="Antique Olive"/>
                <a:sym typeface="Antique Olive"/>
              </a:rPr>
              <a:t>Environment</a:t>
            </a:r>
          </a:p>
        </p:txBody>
      </p:sp>
      <p:sp>
        <p:nvSpPr>
          <p:cNvPr id="23" name="TextBox 23"/>
          <p:cNvSpPr txBox="1"/>
          <p:nvPr/>
        </p:nvSpPr>
        <p:spPr>
          <a:xfrm>
            <a:off x="15298272" y="4498374"/>
            <a:ext cx="706076" cy="384721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3012"/>
              </a:lnSpc>
              <a:spcBef>
                <a:spcPct val="0"/>
              </a:spcBef>
            </a:pPr>
            <a:r>
              <a:rPr lang="en-US" sz="2510" dirty="0">
                <a:solidFill>
                  <a:srgbClr val="000000"/>
                </a:solidFill>
                <a:latin typeface="Antique Olive"/>
                <a:ea typeface="Antique Olive"/>
                <a:cs typeface="Antique Olive"/>
                <a:sym typeface="Antique Olive"/>
              </a:rPr>
              <a:t>Task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rgbClr val="214859">
                <a:alpha val="100000"/>
              </a:srgbClr>
            </a:gs>
            <a:gs pos="100000">
              <a:srgbClr val="131F40">
                <a:alpha val="100000"/>
              </a:srgbClr>
            </a:gs>
          </a:gsLst>
          <a:lin ang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16374848" y="1496930"/>
            <a:ext cx="7293141" cy="7293141"/>
          </a:xfrm>
          <a:custGeom>
            <a:avLst/>
            <a:gdLst/>
            <a:ahLst/>
            <a:cxnLst/>
            <a:rect l="l" t="t" r="r" b="b"/>
            <a:pathLst>
              <a:path w="7293141" h="7293141">
                <a:moveTo>
                  <a:pt x="0" y="0"/>
                </a:moveTo>
                <a:lnTo>
                  <a:pt x="7293141" y="0"/>
                </a:lnTo>
                <a:lnTo>
                  <a:pt x="7293141" y="7293140"/>
                </a:lnTo>
                <a:lnTo>
                  <a:pt x="0" y="7293140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pt-PT"/>
          </a:p>
        </p:txBody>
      </p:sp>
      <p:sp>
        <p:nvSpPr>
          <p:cNvPr id="3" name="Freeform 3"/>
          <p:cNvSpPr/>
          <p:nvPr/>
        </p:nvSpPr>
        <p:spPr>
          <a:xfrm>
            <a:off x="627160" y="397708"/>
            <a:ext cx="1534151" cy="1548226"/>
          </a:xfrm>
          <a:custGeom>
            <a:avLst/>
            <a:gdLst/>
            <a:ahLst/>
            <a:cxnLst/>
            <a:rect l="l" t="t" r="r" b="b"/>
            <a:pathLst>
              <a:path w="1534151" h="1548226">
                <a:moveTo>
                  <a:pt x="0" y="0"/>
                </a:moveTo>
                <a:lnTo>
                  <a:pt x="1534151" y="0"/>
                </a:lnTo>
                <a:lnTo>
                  <a:pt x="1534151" y="1548226"/>
                </a:lnTo>
                <a:lnTo>
                  <a:pt x="0" y="1548226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pt-PT"/>
          </a:p>
        </p:txBody>
      </p:sp>
      <p:sp>
        <p:nvSpPr>
          <p:cNvPr id="4" name="Freeform 4"/>
          <p:cNvSpPr/>
          <p:nvPr/>
        </p:nvSpPr>
        <p:spPr>
          <a:xfrm rot="-252981">
            <a:off x="-16788" y="3442691"/>
            <a:ext cx="11322772" cy="6201766"/>
          </a:xfrm>
          <a:custGeom>
            <a:avLst/>
            <a:gdLst/>
            <a:ahLst/>
            <a:cxnLst/>
            <a:rect l="l" t="t" r="r" b="b"/>
            <a:pathLst>
              <a:path w="11322772" h="6201766">
                <a:moveTo>
                  <a:pt x="0" y="0"/>
                </a:moveTo>
                <a:lnTo>
                  <a:pt x="11322773" y="0"/>
                </a:lnTo>
                <a:lnTo>
                  <a:pt x="11322773" y="6201766"/>
                </a:lnTo>
                <a:lnTo>
                  <a:pt x="0" y="6201766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-14448"/>
            </a:stretch>
          </a:blipFill>
        </p:spPr>
        <p:txBody>
          <a:bodyPr/>
          <a:lstStyle/>
          <a:p>
            <a:endParaRPr lang="pt-PT"/>
          </a:p>
        </p:txBody>
      </p:sp>
      <p:sp>
        <p:nvSpPr>
          <p:cNvPr id="5" name="Freeform 5"/>
          <p:cNvSpPr/>
          <p:nvPr/>
        </p:nvSpPr>
        <p:spPr>
          <a:xfrm rot="295555">
            <a:off x="10949384" y="1171821"/>
            <a:ext cx="4943336" cy="3726040"/>
          </a:xfrm>
          <a:custGeom>
            <a:avLst/>
            <a:gdLst/>
            <a:ahLst/>
            <a:cxnLst/>
            <a:rect l="l" t="t" r="r" b="b"/>
            <a:pathLst>
              <a:path w="4943336" h="3726040">
                <a:moveTo>
                  <a:pt x="0" y="0"/>
                </a:moveTo>
                <a:lnTo>
                  <a:pt x="4943337" y="0"/>
                </a:lnTo>
                <a:lnTo>
                  <a:pt x="4943337" y="3726040"/>
                </a:lnTo>
                <a:lnTo>
                  <a:pt x="0" y="3726040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/>
            </a:stretch>
          </a:blipFill>
          <a:ln w="123825" cap="sq">
            <a:solidFill>
              <a:srgbClr val="FFFFFF"/>
            </a:solidFill>
            <a:prstDash val="solid"/>
            <a:miter/>
          </a:ln>
        </p:spPr>
        <p:txBody>
          <a:bodyPr/>
          <a:lstStyle/>
          <a:p>
            <a:endParaRPr lang="pt-PT"/>
          </a:p>
        </p:txBody>
      </p:sp>
      <p:sp>
        <p:nvSpPr>
          <p:cNvPr id="6" name="Freeform 6"/>
          <p:cNvSpPr/>
          <p:nvPr/>
        </p:nvSpPr>
        <p:spPr>
          <a:xfrm rot="611581">
            <a:off x="12783830" y="5668206"/>
            <a:ext cx="4043694" cy="3079202"/>
          </a:xfrm>
          <a:custGeom>
            <a:avLst/>
            <a:gdLst/>
            <a:ahLst/>
            <a:cxnLst/>
            <a:rect l="l" t="t" r="r" b="b"/>
            <a:pathLst>
              <a:path w="4043694" h="3079202">
                <a:moveTo>
                  <a:pt x="0" y="0"/>
                </a:moveTo>
                <a:lnTo>
                  <a:pt x="4043694" y="0"/>
                </a:lnTo>
                <a:lnTo>
                  <a:pt x="4043694" y="3079203"/>
                </a:lnTo>
                <a:lnTo>
                  <a:pt x="0" y="3079203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>
              <a:fillRect l="-8770" r="-40344" b="-13821"/>
            </a:stretch>
          </a:blipFill>
          <a:ln w="123825" cap="sq">
            <a:solidFill>
              <a:srgbClr val="FFFFFF"/>
            </a:solidFill>
            <a:prstDash val="solid"/>
            <a:miter/>
          </a:ln>
        </p:spPr>
        <p:txBody>
          <a:bodyPr/>
          <a:lstStyle/>
          <a:p>
            <a:endParaRPr lang="pt-PT"/>
          </a:p>
        </p:txBody>
      </p:sp>
      <p:sp>
        <p:nvSpPr>
          <p:cNvPr id="7" name="TextBox 7"/>
          <p:cNvSpPr txBox="1"/>
          <p:nvPr/>
        </p:nvSpPr>
        <p:spPr>
          <a:xfrm>
            <a:off x="1181668" y="731754"/>
            <a:ext cx="9805959" cy="7651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5000"/>
              </a:lnSpc>
            </a:pPr>
            <a:r>
              <a:rPr lang="en-US" sz="5000">
                <a:solidFill>
                  <a:srgbClr val="84E3F8"/>
                </a:solidFill>
                <a:latin typeface="Antique Olive"/>
                <a:ea typeface="Antique Olive"/>
                <a:cs typeface="Antique Olive"/>
                <a:sym typeface="Antique Olive"/>
              </a:rPr>
              <a:t>Simulation Enviroment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rgbClr val="131F40">
                <a:alpha val="100000"/>
              </a:srgbClr>
            </a:gs>
            <a:gs pos="100000">
              <a:srgbClr val="214859">
                <a:alpha val="100000"/>
              </a:srgbClr>
            </a:gs>
          </a:gsLst>
          <a:lin ang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 flipH="1">
            <a:off x="14467004" y="3480137"/>
            <a:ext cx="4785933" cy="9926804"/>
          </a:xfrm>
          <a:custGeom>
            <a:avLst/>
            <a:gdLst/>
            <a:ahLst/>
            <a:cxnLst/>
            <a:rect l="l" t="t" r="r" b="b"/>
            <a:pathLst>
              <a:path w="4785933" h="9926804">
                <a:moveTo>
                  <a:pt x="4785933" y="0"/>
                </a:moveTo>
                <a:lnTo>
                  <a:pt x="0" y="0"/>
                </a:lnTo>
                <a:lnTo>
                  <a:pt x="0" y="9926804"/>
                </a:lnTo>
                <a:lnTo>
                  <a:pt x="4785933" y="9926804"/>
                </a:lnTo>
                <a:lnTo>
                  <a:pt x="4785933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PT"/>
          </a:p>
        </p:txBody>
      </p:sp>
      <p:sp>
        <p:nvSpPr>
          <p:cNvPr id="3" name="Freeform 3"/>
          <p:cNvSpPr/>
          <p:nvPr/>
        </p:nvSpPr>
        <p:spPr>
          <a:xfrm flipH="1">
            <a:off x="12870656" y="1028700"/>
            <a:ext cx="5607724" cy="5607724"/>
          </a:xfrm>
          <a:custGeom>
            <a:avLst/>
            <a:gdLst/>
            <a:ahLst/>
            <a:cxnLst/>
            <a:rect l="l" t="t" r="r" b="b"/>
            <a:pathLst>
              <a:path w="5607724" h="5607724">
                <a:moveTo>
                  <a:pt x="5607724" y="0"/>
                </a:moveTo>
                <a:lnTo>
                  <a:pt x="0" y="0"/>
                </a:lnTo>
                <a:lnTo>
                  <a:pt x="0" y="5607724"/>
                </a:lnTo>
                <a:lnTo>
                  <a:pt x="5607724" y="5607724"/>
                </a:lnTo>
                <a:lnTo>
                  <a:pt x="5607724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pt-PT"/>
          </a:p>
        </p:txBody>
      </p:sp>
      <p:sp>
        <p:nvSpPr>
          <p:cNvPr id="4" name="Freeform 4"/>
          <p:cNvSpPr/>
          <p:nvPr/>
        </p:nvSpPr>
        <p:spPr>
          <a:xfrm>
            <a:off x="535176" y="409166"/>
            <a:ext cx="1534273" cy="1554052"/>
          </a:xfrm>
          <a:custGeom>
            <a:avLst/>
            <a:gdLst/>
            <a:ahLst/>
            <a:cxnLst/>
            <a:rect l="l" t="t" r="r" b="b"/>
            <a:pathLst>
              <a:path w="1534273" h="1554052">
                <a:moveTo>
                  <a:pt x="0" y="0"/>
                </a:moveTo>
                <a:lnTo>
                  <a:pt x="1534273" y="0"/>
                </a:lnTo>
                <a:lnTo>
                  <a:pt x="1534273" y="1554052"/>
                </a:lnTo>
                <a:lnTo>
                  <a:pt x="0" y="1554052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pt-PT"/>
          </a:p>
        </p:txBody>
      </p:sp>
      <p:sp>
        <p:nvSpPr>
          <p:cNvPr id="5" name="TextBox 5"/>
          <p:cNvSpPr txBox="1"/>
          <p:nvPr/>
        </p:nvSpPr>
        <p:spPr>
          <a:xfrm>
            <a:off x="2481893" y="450210"/>
            <a:ext cx="9657703" cy="18446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7000"/>
              </a:lnSpc>
              <a:spcBef>
                <a:spcPct val="0"/>
              </a:spcBef>
            </a:pPr>
            <a:r>
              <a:rPr lang="en-US" sz="5000">
                <a:solidFill>
                  <a:srgbClr val="84E3F8"/>
                </a:solidFill>
                <a:latin typeface="Antique Olive"/>
                <a:ea typeface="Antique Olive"/>
                <a:cs typeface="Antique Olive"/>
                <a:sym typeface="Antique Olive"/>
              </a:rPr>
              <a:t>Table request system &amp; target identification logic</a:t>
            </a:r>
          </a:p>
        </p:txBody>
      </p:sp>
      <p:sp>
        <p:nvSpPr>
          <p:cNvPr id="6" name="Freeform 6"/>
          <p:cNvSpPr/>
          <p:nvPr/>
        </p:nvSpPr>
        <p:spPr>
          <a:xfrm>
            <a:off x="2069449" y="2294885"/>
            <a:ext cx="8232535" cy="7448728"/>
          </a:xfrm>
          <a:custGeom>
            <a:avLst/>
            <a:gdLst/>
            <a:ahLst/>
            <a:cxnLst/>
            <a:rect l="l" t="t" r="r" b="b"/>
            <a:pathLst>
              <a:path w="8232535" h="7448728">
                <a:moveTo>
                  <a:pt x="0" y="0"/>
                </a:moveTo>
                <a:lnTo>
                  <a:pt x="8232535" y="0"/>
                </a:lnTo>
                <a:lnTo>
                  <a:pt x="8232535" y="7448728"/>
                </a:lnTo>
                <a:lnTo>
                  <a:pt x="0" y="7448728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 t="-12690" b="-25413"/>
            </a:stretch>
          </a:blipFill>
        </p:spPr>
        <p:txBody>
          <a:bodyPr/>
          <a:lstStyle/>
          <a:p>
            <a:endParaRPr lang="pt-PT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rgbClr val="214859">
                <a:alpha val="100000"/>
              </a:srgbClr>
            </a:gs>
            <a:gs pos="100000">
              <a:srgbClr val="131F40">
                <a:alpha val="100000"/>
              </a:srgbClr>
            </a:gs>
          </a:gsLst>
          <a:lin ang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9540750" y="0"/>
            <a:ext cx="8747250" cy="10287000"/>
            <a:chOff x="0" y="0"/>
            <a:chExt cx="1355178" cy="1593725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1355178" cy="1593725"/>
            </a:xfrm>
            <a:custGeom>
              <a:avLst/>
              <a:gdLst/>
              <a:ahLst/>
              <a:cxnLst/>
              <a:rect l="l" t="t" r="r" b="b"/>
              <a:pathLst>
                <a:path w="1355178" h="1593725">
                  <a:moveTo>
                    <a:pt x="0" y="0"/>
                  </a:moveTo>
                  <a:lnTo>
                    <a:pt x="1355178" y="0"/>
                  </a:lnTo>
                  <a:lnTo>
                    <a:pt x="1355178" y="1593725"/>
                  </a:lnTo>
                  <a:lnTo>
                    <a:pt x="0" y="1593725"/>
                  </a:lnTo>
                  <a:close/>
                </a:path>
              </a:pathLst>
            </a:custGeom>
            <a:blipFill>
              <a:blip r:embed="rId2"/>
              <a:stretch>
                <a:fillRect l="-8801" r="-8801"/>
              </a:stretch>
            </a:blipFill>
          </p:spPr>
          <p:txBody>
            <a:bodyPr/>
            <a:lstStyle/>
            <a:p>
              <a:endParaRPr lang="pt-PT"/>
            </a:p>
          </p:txBody>
        </p:sp>
      </p:grpSp>
      <p:sp>
        <p:nvSpPr>
          <p:cNvPr id="4" name="Freeform 4"/>
          <p:cNvSpPr/>
          <p:nvPr/>
        </p:nvSpPr>
        <p:spPr>
          <a:xfrm>
            <a:off x="306440" y="294424"/>
            <a:ext cx="1444520" cy="1468551"/>
          </a:xfrm>
          <a:custGeom>
            <a:avLst/>
            <a:gdLst/>
            <a:ahLst/>
            <a:cxnLst/>
            <a:rect l="l" t="t" r="r" b="b"/>
            <a:pathLst>
              <a:path w="1444520" h="1468551">
                <a:moveTo>
                  <a:pt x="0" y="0"/>
                </a:moveTo>
                <a:lnTo>
                  <a:pt x="1444520" y="0"/>
                </a:lnTo>
                <a:lnTo>
                  <a:pt x="1444520" y="1468552"/>
                </a:lnTo>
                <a:lnTo>
                  <a:pt x="0" y="1468552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pt-PT"/>
          </a:p>
        </p:txBody>
      </p:sp>
      <p:sp>
        <p:nvSpPr>
          <p:cNvPr id="5" name="TextBox 5"/>
          <p:cNvSpPr txBox="1"/>
          <p:nvPr/>
        </p:nvSpPr>
        <p:spPr>
          <a:xfrm>
            <a:off x="1939341" y="284899"/>
            <a:ext cx="9468098" cy="196024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800"/>
              </a:lnSpc>
            </a:pPr>
            <a:r>
              <a:rPr lang="en-US" sz="4800">
                <a:solidFill>
                  <a:srgbClr val="84E3F8"/>
                </a:solidFill>
                <a:latin typeface="Antique Olive"/>
                <a:ea typeface="Antique Olive"/>
                <a:cs typeface="Antique Olive"/>
                <a:sym typeface="Antique Olive"/>
              </a:rPr>
              <a:t>Experience 1:</a:t>
            </a:r>
          </a:p>
          <a:p>
            <a:pPr algn="l">
              <a:lnSpc>
                <a:spcPts val="4800"/>
              </a:lnSpc>
            </a:pPr>
            <a:r>
              <a:rPr lang="en-US" sz="4800">
                <a:solidFill>
                  <a:srgbClr val="84E3F8"/>
                </a:solidFill>
                <a:latin typeface="Antique Olive"/>
                <a:ea typeface="Antique Olive"/>
                <a:cs typeface="Antique Olive"/>
                <a:sym typeface="Antique Olive"/>
              </a:rPr>
              <a:t>Static Environment with Known Map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0C88EDA3-ADC2-28DD-9C2C-FB22B96C32B5}"/>
              </a:ext>
            </a:extLst>
          </p:cNvPr>
          <p:cNvSpPr txBox="1"/>
          <p:nvPr/>
        </p:nvSpPr>
        <p:spPr>
          <a:xfrm>
            <a:off x="133102" y="2476500"/>
            <a:ext cx="9468098" cy="804066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>
              <a:lnSpc>
                <a:spcPts val="3300"/>
              </a:lnSpc>
            </a:pPr>
            <a:r>
              <a:rPr lang="en-US" sz="2400" dirty="0">
                <a:solidFill>
                  <a:srgbClr val="FFFFFF"/>
                </a:solidFill>
                <a:latin typeface="Antique Olive"/>
                <a:ea typeface="Antique Olive"/>
                <a:cs typeface="Antique Olive"/>
                <a:sym typeface="Antique Olive"/>
              </a:rPr>
              <a:t>1. Pre-built occupancy grid of the restaurant with obstacle inflation (1 cell)</a:t>
            </a:r>
          </a:p>
          <a:p>
            <a:pPr algn="l">
              <a:lnSpc>
                <a:spcPts val="3300"/>
              </a:lnSpc>
            </a:pPr>
            <a:endParaRPr lang="en-US" sz="2400" dirty="0">
              <a:solidFill>
                <a:srgbClr val="FFFFFF"/>
              </a:solidFill>
              <a:latin typeface="Antique Olive"/>
              <a:ea typeface="Antique Olive"/>
              <a:cs typeface="Antique Olive"/>
              <a:sym typeface="Antique Olive"/>
            </a:endParaRPr>
          </a:p>
          <a:p>
            <a:pPr marL="514350" indent="-514350" algn="l">
              <a:lnSpc>
                <a:spcPts val="3300"/>
              </a:lnSpc>
              <a:buAutoNum type="arabicPeriod" startAt="2"/>
            </a:pPr>
            <a:r>
              <a:rPr lang="en-US" sz="2400" dirty="0">
                <a:solidFill>
                  <a:schemeClr val="bg1"/>
                </a:solidFill>
                <a:latin typeface="Antique Olive"/>
                <a:ea typeface="Antique Olive"/>
                <a:cs typeface="Antique Olive"/>
                <a:sym typeface="Antique Olive"/>
              </a:rPr>
              <a:t>A* path planning on the known map</a:t>
            </a:r>
          </a:p>
          <a:p>
            <a:pPr marL="514350" indent="-514350" algn="l">
              <a:lnSpc>
                <a:spcPts val="3300"/>
              </a:lnSpc>
              <a:buAutoNum type="arabicPeriod" startAt="2"/>
            </a:pPr>
            <a:endParaRPr lang="en-US" sz="2400" dirty="0">
              <a:solidFill>
                <a:schemeClr val="bg1"/>
              </a:solidFill>
              <a:latin typeface="Antique Olive"/>
              <a:ea typeface="Antique Olive"/>
              <a:cs typeface="Antique Olive"/>
              <a:sym typeface="Antique Olive"/>
            </a:endParaRPr>
          </a:p>
          <a:p>
            <a:pPr marL="514350" indent="-514350">
              <a:lnSpc>
                <a:spcPts val="3300"/>
              </a:lnSpc>
              <a:buAutoNum type="arabicPeriod" startAt="2"/>
            </a:pPr>
            <a:r>
              <a:rPr lang="en-US" sz="2400" dirty="0">
                <a:solidFill>
                  <a:schemeClr val="bg1"/>
                </a:solidFill>
                <a:latin typeface="Antique Olive"/>
                <a:ea typeface="Antique Olive"/>
                <a:cs typeface="Antique Olive"/>
                <a:sym typeface="Antique Olive"/>
              </a:rPr>
              <a:t>Multiple reachable goal candidates per table </a:t>
            </a:r>
            <a:r>
              <a:rPr lang="pt-PT" sz="2400" dirty="0">
                <a:solidFill>
                  <a:schemeClr val="bg1"/>
                </a:solidFill>
              </a:rPr>
              <a:t>→</a:t>
            </a:r>
            <a:r>
              <a:rPr lang="en-US" sz="2400" dirty="0">
                <a:solidFill>
                  <a:schemeClr val="bg1"/>
                </a:solidFill>
                <a:latin typeface="Antique Olive"/>
                <a:ea typeface="Antique Olive"/>
                <a:cs typeface="Antique Olive"/>
                <a:sym typeface="Antique Olive"/>
              </a:rPr>
              <a:t> robot selects the shortest valid path</a:t>
            </a:r>
          </a:p>
          <a:p>
            <a:pPr marL="514350" indent="-514350" algn="l">
              <a:lnSpc>
                <a:spcPts val="3300"/>
              </a:lnSpc>
              <a:buAutoNum type="arabicPeriod" startAt="2"/>
            </a:pPr>
            <a:endParaRPr lang="en-US" sz="2400" dirty="0">
              <a:solidFill>
                <a:schemeClr val="bg1"/>
              </a:solidFill>
              <a:latin typeface="Antique Olive"/>
              <a:ea typeface="Antique Olive"/>
              <a:cs typeface="Antique Olive"/>
              <a:sym typeface="Antique Olive"/>
            </a:endParaRPr>
          </a:p>
          <a:p>
            <a:pPr marL="514350" indent="-514350">
              <a:lnSpc>
                <a:spcPts val="3300"/>
              </a:lnSpc>
              <a:buAutoNum type="arabicPeriod" startAt="2"/>
            </a:pPr>
            <a:r>
              <a:rPr lang="en-US" sz="2400" dirty="0">
                <a:solidFill>
                  <a:schemeClr val="bg1"/>
                </a:solidFill>
                <a:latin typeface="Antique Olive"/>
                <a:ea typeface="Antique Olive"/>
                <a:cs typeface="Antique Olive"/>
                <a:sym typeface="Antique Olive"/>
              </a:rPr>
              <a:t>Automatic free-cell projection </a:t>
            </a:r>
            <a:r>
              <a:rPr lang="pt-PT" sz="2400" dirty="0">
                <a:solidFill>
                  <a:schemeClr val="bg1"/>
                </a:solidFill>
              </a:rPr>
              <a:t>→ </a:t>
            </a:r>
            <a:r>
              <a:rPr lang="en-US" sz="2400" dirty="0">
                <a:solidFill>
                  <a:schemeClr val="bg1"/>
                </a:solidFill>
                <a:latin typeface="Antique Olive"/>
                <a:ea typeface="Antique Olive"/>
                <a:cs typeface="Antique Olive"/>
                <a:sym typeface="Antique Olive"/>
              </a:rPr>
              <a:t>invalid/occupied goals are corrected to nearby free cells</a:t>
            </a:r>
          </a:p>
          <a:p>
            <a:pPr marL="514350" indent="-514350" algn="l">
              <a:lnSpc>
                <a:spcPts val="3300"/>
              </a:lnSpc>
              <a:buAutoNum type="arabicPeriod" startAt="2"/>
            </a:pPr>
            <a:endParaRPr lang="en-US" sz="2400" dirty="0">
              <a:solidFill>
                <a:schemeClr val="bg1"/>
              </a:solidFill>
              <a:latin typeface="Antique Olive"/>
              <a:ea typeface="Antique Olive"/>
              <a:cs typeface="Antique Olive"/>
              <a:sym typeface="Antique Olive"/>
            </a:endParaRPr>
          </a:p>
          <a:p>
            <a:pPr marL="514350" indent="-514350" algn="l">
              <a:lnSpc>
                <a:spcPts val="3300"/>
              </a:lnSpc>
              <a:buAutoNum type="arabicPeriod" startAt="2"/>
            </a:pPr>
            <a:r>
              <a:rPr lang="en-US" sz="2400" dirty="0">
                <a:solidFill>
                  <a:schemeClr val="bg1"/>
                </a:solidFill>
                <a:latin typeface="Antique Olive"/>
                <a:ea typeface="Antique Olive"/>
                <a:cs typeface="Antique Olive"/>
                <a:sym typeface="Antique Olive"/>
              </a:rPr>
              <a:t>Waypoint-based path following with heading control</a:t>
            </a:r>
          </a:p>
          <a:p>
            <a:pPr marL="514350" indent="-514350" algn="l">
              <a:lnSpc>
                <a:spcPts val="3300"/>
              </a:lnSpc>
              <a:buAutoNum type="arabicPeriod" startAt="2"/>
            </a:pPr>
            <a:endParaRPr lang="en-US" sz="2400" dirty="0">
              <a:solidFill>
                <a:schemeClr val="bg1"/>
              </a:solidFill>
              <a:latin typeface="Antique Olive"/>
              <a:ea typeface="Antique Olive"/>
              <a:cs typeface="Antique Olive"/>
              <a:sym typeface="Antique Olive"/>
            </a:endParaRPr>
          </a:p>
          <a:p>
            <a:pPr marL="514350" indent="-514350" algn="l">
              <a:lnSpc>
                <a:spcPts val="3300"/>
              </a:lnSpc>
              <a:buAutoNum type="arabicPeriod" startAt="2"/>
            </a:pPr>
            <a:r>
              <a:rPr lang="en-US" sz="2400" dirty="0">
                <a:solidFill>
                  <a:schemeClr val="bg1"/>
                </a:solidFill>
                <a:latin typeface="Antique Olive"/>
                <a:ea typeface="Antique Olive"/>
                <a:cs typeface="Antique Olive"/>
                <a:sym typeface="Antique Olive"/>
              </a:rPr>
              <a:t>Reactive obstacle recovery for emergency avoidance</a:t>
            </a:r>
          </a:p>
          <a:p>
            <a:pPr marL="514350" indent="-514350" algn="l">
              <a:lnSpc>
                <a:spcPts val="3300"/>
              </a:lnSpc>
              <a:buAutoNum type="arabicPeriod" startAt="2"/>
            </a:pPr>
            <a:endParaRPr lang="en-US" sz="2400" dirty="0">
              <a:solidFill>
                <a:schemeClr val="bg1"/>
              </a:solidFill>
              <a:latin typeface="Antique Olive"/>
              <a:ea typeface="Antique Olive"/>
              <a:cs typeface="Antique Olive"/>
              <a:sym typeface="Antique Olive"/>
            </a:endParaRPr>
          </a:p>
          <a:p>
            <a:pPr marL="514350" indent="-514350">
              <a:lnSpc>
                <a:spcPts val="3300"/>
              </a:lnSpc>
              <a:buAutoNum type="arabicPeriod" startAt="2"/>
            </a:pPr>
            <a:r>
              <a:rPr lang="en-US" sz="2400" dirty="0">
                <a:solidFill>
                  <a:schemeClr val="bg1"/>
                </a:solidFill>
                <a:latin typeface="Antique Olive"/>
                <a:ea typeface="Antique Olive"/>
                <a:cs typeface="Antique Olive"/>
                <a:sym typeface="Antique Olive"/>
              </a:rPr>
              <a:t>Request cycle: receive request </a:t>
            </a:r>
            <a:r>
              <a:rPr lang="pt-PT" sz="2400" dirty="0">
                <a:solidFill>
                  <a:schemeClr val="bg1"/>
                </a:solidFill>
              </a:rPr>
              <a:t>→ </a:t>
            </a:r>
            <a:r>
              <a:rPr lang="en-US" sz="2400" dirty="0">
                <a:solidFill>
                  <a:schemeClr val="bg1"/>
                </a:solidFill>
                <a:latin typeface="Antique Olive"/>
                <a:ea typeface="Antique Olive"/>
                <a:cs typeface="Antique Olive"/>
                <a:sym typeface="Antique Olive"/>
              </a:rPr>
              <a:t>plan </a:t>
            </a:r>
            <a:r>
              <a:rPr lang="pt-PT" sz="2400" dirty="0">
                <a:solidFill>
                  <a:schemeClr val="bg1"/>
                </a:solidFill>
              </a:rPr>
              <a:t>→ </a:t>
            </a:r>
            <a:r>
              <a:rPr lang="en-US" sz="2400" dirty="0">
                <a:solidFill>
                  <a:schemeClr val="bg1"/>
                </a:solidFill>
                <a:latin typeface="Antique Olive"/>
                <a:ea typeface="Antique Olive"/>
                <a:cs typeface="Antique Olive"/>
                <a:sym typeface="Antique Olive"/>
              </a:rPr>
              <a:t>navigate </a:t>
            </a:r>
            <a:r>
              <a:rPr lang="pt-PT" sz="2400" dirty="0">
                <a:solidFill>
                  <a:schemeClr val="bg1"/>
                </a:solidFill>
              </a:rPr>
              <a:t>→</a:t>
            </a:r>
            <a:r>
              <a:rPr lang="en-US" sz="2400" dirty="0">
                <a:solidFill>
                  <a:schemeClr val="bg1"/>
                </a:solidFill>
                <a:latin typeface="Antique Olive"/>
                <a:ea typeface="Antique Olive"/>
                <a:cs typeface="Antique Olive"/>
                <a:sym typeface="Antique Olive"/>
              </a:rPr>
              <a:t> serve (2s) </a:t>
            </a:r>
            <a:r>
              <a:rPr lang="pt-PT" sz="2400" dirty="0">
                <a:solidFill>
                  <a:schemeClr val="bg1"/>
                </a:solidFill>
              </a:rPr>
              <a:t>→ </a:t>
            </a:r>
            <a:r>
              <a:rPr lang="en-US" sz="2400" dirty="0">
                <a:solidFill>
                  <a:schemeClr val="bg1"/>
                </a:solidFill>
                <a:latin typeface="Antique Olive"/>
                <a:ea typeface="Antique Olive"/>
                <a:cs typeface="Antique Olive"/>
                <a:sym typeface="Antique Olive"/>
              </a:rPr>
              <a:t>return to base</a:t>
            </a:r>
          </a:p>
          <a:p>
            <a:pPr algn="l">
              <a:lnSpc>
                <a:spcPts val="3300"/>
              </a:lnSpc>
            </a:pPr>
            <a:endParaRPr lang="en-US" sz="3000" dirty="0">
              <a:solidFill>
                <a:srgbClr val="FFFFFF"/>
              </a:solidFill>
              <a:latin typeface="Antique Olive"/>
              <a:ea typeface="Antique Olive"/>
              <a:cs typeface="Antique Olive"/>
              <a:sym typeface="Antique Olive"/>
            </a:endParaRPr>
          </a:p>
          <a:p>
            <a:pPr algn="l">
              <a:lnSpc>
                <a:spcPts val="3300"/>
              </a:lnSpc>
            </a:pPr>
            <a:endParaRPr lang="en-US" sz="3000" dirty="0">
              <a:solidFill>
                <a:srgbClr val="FFFFFF"/>
              </a:solidFill>
              <a:latin typeface="Antique Olive"/>
              <a:ea typeface="Antique Olive"/>
              <a:cs typeface="Antique Olive"/>
              <a:sym typeface="Antique Olive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rgbClr val="214859">
                <a:alpha val="100000"/>
              </a:srgbClr>
            </a:gs>
            <a:gs pos="100000">
              <a:srgbClr val="131F40">
                <a:alpha val="100000"/>
              </a:srgbClr>
            </a:gs>
          </a:gsLst>
          <a:lin ang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306440" y="294424"/>
            <a:ext cx="1444520" cy="1468551"/>
          </a:xfrm>
          <a:custGeom>
            <a:avLst/>
            <a:gdLst/>
            <a:ahLst/>
            <a:cxnLst/>
            <a:rect l="l" t="t" r="r" b="b"/>
            <a:pathLst>
              <a:path w="1444520" h="1468551">
                <a:moveTo>
                  <a:pt x="0" y="0"/>
                </a:moveTo>
                <a:lnTo>
                  <a:pt x="1444520" y="0"/>
                </a:lnTo>
                <a:lnTo>
                  <a:pt x="1444520" y="1468552"/>
                </a:lnTo>
                <a:lnTo>
                  <a:pt x="0" y="1468552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pt-PT"/>
          </a:p>
        </p:txBody>
      </p:sp>
      <p:sp>
        <p:nvSpPr>
          <p:cNvPr id="3" name="TextBox 3"/>
          <p:cNvSpPr txBox="1"/>
          <p:nvPr/>
        </p:nvSpPr>
        <p:spPr>
          <a:xfrm>
            <a:off x="1939341" y="284899"/>
            <a:ext cx="9468098" cy="196024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800"/>
              </a:lnSpc>
            </a:pPr>
            <a:r>
              <a:rPr lang="en-US" sz="4800">
                <a:solidFill>
                  <a:srgbClr val="84E3F8"/>
                </a:solidFill>
                <a:latin typeface="Antique Olive"/>
                <a:ea typeface="Antique Olive"/>
                <a:cs typeface="Antique Olive"/>
                <a:sym typeface="Antique Olive"/>
              </a:rPr>
              <a:t>Experience 1:</a:t>
            </a:r>
          </a:p>
          <a:p>
            <a:pPr algn="l">
              <a:lnSpc>
                <a:spcPts val="4800"/>
              </a:lnSpc>
            </a:pPr>
            <a:r>
              <a:rPr lang="en-US" sz="4800">
                <a:solidFill>
                  <a:srgbClr val="84E3F8"/>
                </a:solidFill>
                <a:latin typeface="Antique Olive"/>
                <a:ea typeface="Antique Olive"/>
                <a:cs typeface="Antique Olive"/>
                <a:sym typeface="Antique Olive"/>
              </a:rPr>
              <a:t>Static Environment with Known Map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5444311" y="4895850"/>
            <a:ext cx="7509689" cy="384721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3012"/>
              </a:lnSpc>
              <a:spcBef>
                <a:spcPct val="0"/>
              </a:spcBef>
            </a:pPr>
            <a:r>
              <a:rPr lang="en-US" sz="2510" dirty="0">
                <a:solidFill>
                  <a:srgbClr val="84E3F8"/>
                </a:solidFill>
                <a:latin typeface="Antique Olive"/>
                <a:ea typeface="Antique Olive"/>
                <a:cs typeface="Antique Olive"/>
                <a:sym typeface="Antique Olive"/>
              </a:rPr>
              <a:t>VIDEOOOOOOOOOOOOOOOOOOOOOOOOOOOOO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rgbClr val="214859">
                <a:alpha val="100000"/>
              </a:srgbClr>
            </a:gs>
            <a:gs pos="100000">
              <a:srgbClr val="131F40">
                <a:alpha val="100000"/>
              </a:srgbClr>
            </a:gs>
          </a:gsLst>
          <a:lin ang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1969502" y="6489129"/>
            <a:ext cx="5948182" cy="5948182"/>
          </a:xfrm>
          <a:custGeom>
            <a:avLst/>
            <a:gdLst/>
            <a:ahLst/>
            <a:cxnLst/>
            <a:rect l="l" t="t" r="r" b="b"/>
            <a:pathLst>
              <a:path w="5948182" h="5948182">
                <a:moveTo>
                  <a:pt x="0" y="0"/>
                </a:moveTo>
                <a:lnTo>
                  <a:pt x="5948181" y="0"/>
                </a:lnTo>
                <a:lnTo>
                  <a:pt x="5948181" y="5948182"/>
                </a:lnTo>
                <a:lnTo>
                  <a:pt x="0" y="5948182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pt-PT"/>
          </a:p>
        </p:txBody>
      </p:sp>
      <p:sp>
        <p:nvSpPr>
          <p:cNvPr id="3" name="Freeform 3"/>
          <p:cNvSpPr/>
          <p:nvPr/>
        </p:nvSpPr>
        <p:spPr>
          <a:xfrm>
            <a:off x="15134207" y="-2437066"/>
            <a:ext cx="5948182" cy="5948182"/>
          </a:xfrm>
          <a:custGeom>
            <a:avLst/>
            <a:gdLst/>
            <a:ahLst/>
            <a:cxnLst/>
            <a:rect l="l" t="t" r="r" b="b"/>
            <a:pathLst>
              <a:path w="5948182" h="5948182">
                <a:moveTo>
                  <a:pt x="0" y="0"/>
                </a:moveTo>
                <a:lnTo>
                  <a:pt x="5948182" y="0"/>
                </a:lnTo>
                <a:lnTo>
                  <a:pt x="5948182" y="5948182"/>
                </a:lnTo>
                <a:lnTo>
                  <a:pt x="0" y="5948182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pt-PT"/>
          </a:p>
        </p:txBody>
      </p:sp>
      <p:sp>
        <p:nvSpPr>
          <p:cNvPr id="4" name="Freeform 4"/>
          <p:cNvSpPr/>
          <p:nvPr/>
        </p:nvSpPr>
        <p:spPr>
          <a:xfrm>
            <a:off x="388441" y="364280"/>
            <a:ext cx="1280518" cy="1328840"/>
          </a:xfrm>
          <a:custGeom>
            <a:avLst/>
            <a:gdLst/>
            <a:ahLst/>
            <a:cxnLst/>
            <a:rect l="l" t="t" r="r" b="b"/>
            <a:pathLst>
              <a:path w="1280518" h="1328840">
                <a:moveTo>
                  <a:pt x="0" y="0"/>
                </a:moveTo>
                <a:lnTo>
                  <a:pt x="1280518" y="0"/>
                </a:lnTo>
                <a:lnTo>
                  <a:pt x="1280518" y="1328840"/>
                </a:lnTo>
                <a:lnTo>
                  <a:pt x="0" y="1328840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pt-PT"/>
          </a:p>
        </p:txBody>
      </p:sp>
      <p:sp>
        <p:nvSpPr>
          <p:cNvPr id="5" name="TextBox 5"/>
          <p:cNvSpPr txBox="1"/>
          <p:nvPr/>
        </p:nvSpPr>
        <p:spPr>
          <a:xfrm>
            <a:off x="1969502" y="354755"/>
            <a:ext cx="12589912" cy="135064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800"/>
              </a:lnSpc>
            </a:pPr>
            <a:r>
              <a:rPr lang="en-US" sz="4800">
                <a:solidFill>
                  <a:srgbClr val="84E3F8"/>
                </a:solidFill>
                <a:latin typeface="Antique Olive"/>
                <a:ea typeface="Antique Olive"/>
                <a:cs typeface="Antique Olive"/>
                <a:sym typeface="Antique Olive"/>
              </a:rPr>
              <a:t>Experience 2:</a:t>
            </a:r>
          </a:p>
          <a:p>
            <a:pPr algn="l">
              <a:lnSpc>
                <a:spcPts val="4800"/>
              </a:lnSpc>
            </a:pPr>
            <a:r>
              <a:rPr lang="en-US" sz="4800">
                <a:solidFill>
                  <a:srgbClr val="84E3F8"/>
                </a:solidFill>
                <a:latin typeface="Antique Olive"/>
                <a:ea typeface="Antique Olive"/>
                <a:cs typeface="Antique Olive"/>
                <a:sym typeface="Antique Olive"/>
              </a:rPr>
              <a:t>Static Environment with Unknown Map</a:t>
            </a:r>
          </a:p>
        </p:txBody>
      </p:sp>
      <p:grpSp>
        <p:nvGrpSpPr>
          <p:cNvPr id="6" name="Group 6"/>
          <p:cNvGrpSpPr/>
          <p:nvPr/>
        </p:nvGrpSpPr>
        <p:grpSpPr>
          <a:xfrm>
            <a:off x="0" y="2061575"/>
            <a:ext cx="18288000" cy="5746372"/>
            <a:chOff x="0" y="0"/>
            <a:chExt cx="4816587" cy="1513319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4816587" cy="1513319"/>
            </a:xfrm>
            <a:custGeom>
              <a:avLst/>
              <a:gdLst/>
              <a:ahLst/>
              <a:cxnLst/>
              <a:rect l="l" t="t" r="r" b="b"/>
              <a:pathLst>
                <a:path w="4816587" h="1513319">
                  <a:moveTo>
                    <a:pt x="4816587" y="32173"/>
                  </a:moveTo>
                  <a:lnTo>
                    <a:pt x="4816587" y="1481146"/>
                  </a:lnTo>
                  <a:cubicBezTo>
                    <a:pt x="4816587" y="1489679"/>
                    <a:pt x="4813197" y="1497862"/>
                    <a:pt x="4807164" y="1503896"/>
                  </a:cubicBezTo>
                  <a:cubicBezTo>
                    <a:pt x="4801130" y="1509929"/>
                    <a:pt x="4792947" y="1513319"/>
                    <a:pt x="4784414" y="1513319"/>
                  </a:cubicBezTo>
                  <a:lnTo>
                    <a:pt x="32173" y="1513319"/>
                  </a:lnTo>
                  <a:cubicBezTo>
                    <a:pt x="23640" y="1513319"/>
                    <a:pt x="15457" y="1509929"/>
                    <a:pt x="9423" y="1503896"/>
                  </a:cubicBezTo>
                  <a:cubicBezTo>
                    <a:pt x="3390" y="1497862"/>
                    <a:pt x="0" y="1489679"/>
                    <a:pt x="0" y="1481146"/>
                  </a:cubicBezTo>
                  <a:lnTo>
                    <a:pt x="0" y="32173"/>
                  </a:lnTo>
                  <a:cubicBezTo>
                    <a:pt x="0" y="23640"/>
                    <a:pt x="3390" y="15457"/>
                    <a:pt x="9423" y="9423"/>
                  </a:cubicBezTo>
                  <a:cubicBezTo>
                    <a:pt x="15457" y="3390"/>
                    <a:pt x="23640" y="0"/>
                    <a:pt x="32173" y="0"/>
                  </a:cubicBezTo>
                  <a:lnTo>
                    <a:pt x="4784414" y="0"/>
                  </a:lnTo>
                  <a:cubicBezTo>
                    <a:pt x="4792947" y="0"/>
                    <a:pt x="4801130" y="3390"/>
                    <a:pt x="4807164" y="9423"/>
                  </a:cubicBezTo>
                  <a:cubicBezTo>
                    <a:pt x="4813197" y="15457"/>
                    <a:pt x="4816587" y="23640"/>
                    <a:pt x="4816587" y="32173"/>
                  </a:cubicBezTo>
                  <a:close/>
                </a:path>
              </a:pathLst>
            </a:custGeom>
            <a:solidFill>
              <a:srgbClr val="C2E9FF"/>
            </a:solidFill>
          </p:spPr>
          <p:txBody>
            <a:bodyPr/>
            <a:lstStyle/>
            <a:p>
              <a:endParaRPr lang="pt-PT"/>
            </a:p>
          </p:txBody>
        </p:sp>
        <p:sp>
          <p:nvSpPr>
            <p:cNvPr id="8" name="TextBox 8"/>
            <p:cNvSpPr txBox="1"/>
            <p:nvPr/>
          </p:nvSpPr>
          <p:spPr>
            <a:xfrm>
              <a:off x="0" y="-9525"/>
              <a:ext cx="4816587" cy="1522844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400"/>
                </a:lnSpc>
              </a:pPr>
              <a:endParaRPr/>
            </a:p>
          </p:txBody>
        </p:sp>
      </p:grpSp>
      <p:sp>
        <p:nvSpPr>
          <p:cNvPr id="9" name="Freeform 9"/>
          <p:cNvSpPr/>
          <p:nvPr/>
        </p:nvSpPr>
        <p:spPr>
          <a:xfrm>
            <a:off x="15391221" y="2503358"/>
            <a:ext cx="2589386" cy="4824564"/>
          </a:xfrm>
          <a:custGeom>
            <a:avLst/>
            <a:gdLst/>
            <a:ahLst/>
            <a:cxnLst/>
            <a:rect l="l" t="t" r="r" b="b"/>
            <a:pathLst>
              <a:path w="2589386" h="4824564">
                <a:moveTo>
                  <a:pt x="0" y="0"/>
                </a:moveTo>
                <a:lnTo>
                  <a:pt x="2589386" y="0"/>
                </a:lnTo>
                <a:lnTo>
                  <a:pt x="2589386" y="4824564"/>
                </a:lnTo>
                <a:lnTo>
                  <a:pt x="0" y="4824564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/>
            </a:stretch>
          </a:blipFill>
        </p:spPr>
        <p:txBody>
          <a:bodyPr/>
          <a:lstStyle/>
          <a:p>
            <a:endParaRPr lang="pt-PT"/>
          </a:p>
        </p:txBody>
      </p:sp>
      <p:sp>
        <p:nvSpPr>
          <p:cNvPr id="10" name="Freeform 10"/>
          <p:cNvSpPr/>
          <p:nvPr/>
        </p:nvSpPr>
        <p:spPr>
          <a:xfrm>
            <a:off x="11659920" y="2503358"/>
            <a:ext cx="2473311" cy="4824564"/>
          </a:xfrm>
          <a:custGeom>
            <a:avLst/>
            <a:gdLst/>
            <a:ahLst/>
            <a:cxnLst/>
            <a:rect l="l" t="t" r="r" b="b"/>
            <a:pathLst>
              <a:path w="2473311" h="4824564">
                <a:moveTo>
                  <a:pt x="0" y="0"/>
                </a:moveTo>
                <a:lnTo>
                  <a:pt x="2473310" y="0"/>
                </a:lnTo>
                <a:lnTo>
                  <a:pt x="2473310" y="4824564"/>
                </a:lnTo>
                <a:lnTo>
                  <a:pt x="0" y="4824564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>
              <a:fillRect r="-1546"/>
            </a:stretch>
          </a:blipFill>
        </p:spPr>
        <p:txBody>
          <a:bodyPr/>
          <a:lstStyle/>
          <a:p>
            <a:endParaRPr lang="pt-PT"/>
          </a:p>
        </p:txBody>
      </p:sp>
      <p:sp>
        <p:nvSpPr>
          <p:cNvPr id="11" name="Freeform 11"/>
          <p:cNvSpPr/>
          <p:nvPr/>
        </p:nvSpPr>
        <p:spPr>
          <a:xfrm>
            <a:off x="4008567" y="2503358"/>
            <a:ext cx="2800700" cy="4824564"/>
          </a:xfrm>
          <a:custGeom>
            <a:avLst/>
            <a:gdLst/>
            <a:ahLst/>
            <a:cxnLst/>
            <a:rect l="l" t="t" r="r" b="b"/>
            <a:pathLst>
              <a:path w="2800700" h="4824564">
                <a:moveTo>
                  <a:pt x="0" y="0"/>
                </a:moveTo>
                <a:lnTo>
                  <a:pt x="2800700" y="0"/>
                </a:lnTo>
                <a:lnTo>
                  <a:pt x="2800700" y="4824564"/>
                </a:lnTo>
                <a:lnTo>
                  <a:pt x="0" y="4824564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>
              <a:fillRect/>
            </a:stretch>
          </a:blipFill>
        </p:spPr>
        <p:txBody>
          <a:bodyPr/>
          <a:lstStyle/>
          <a:p>
            <a:endParaRPr lang="pt-PT"/>
          </a:p>
        </p:txBody>
      </p:sp>
      <p:sp>
        <p:nvSpPr>
          <p:cNvPr id="12" name="Freeform 12"/>
          <p:cNvSpPr/>
          <p:nvPr/>
        </p:nvSpPr>
        <p:spPr>
          <a:xfrm>
            <a:off x="585908" y="3342150"/>
            <a:ext cx="2166103" cy="3146979"/>
          </a:xfrm>
          <a:custGeom>
            <a:avLst/>
            <a:gdLst/>
            <a:ahLst/>
            <a:cxnLst/>
            <a:rect l="l" t="t" r="r" b="b"/>
            <a:pathLst>
              <a:path w="2166103" h="3146979">
                <a:moveTo>
                  <a:pt x="0" y="0"/>
                </a:moveTo>
                <a:lnTo>
                  <a:pt x="2166103" y="0"/>
                </a:lnTo>
                <a:lnTo>
                  <a:pt x="2166103" y="3146979"/>
                </a:lnTo>
                <a:lnTo>
                  <a:pt x="0" y="3146979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>
              <a:fillRect/>
            </a:stretch>
          </a:blipFill>
        </p:spPr>
        <p:txBody>
          <a:bodyPr/>
          <a:lstStyle/>
          <a:p>
            <a:endParaRPr lang="pt-PT"/>
          </a:p>
        </p:txBody>
      </p:sp>
      <p:grpSp>
        <p:nvGrpSpPr>
          <p:cNvPr id="13" name="Group 13"/>
          <p:cNvGrpSpPr/>
          <p:nvPr/>
        </p:nvGrpSpPr>
        <p:grpSpPr>
          <a:xfrm>
            <a:off x="2752011" y="4648914"/>
            <a:ext cx="705541" cy="533452"/>
            <a:chOff x="0" y="0"/>
            <a:chExt cx="1075005" cy="812800"/>
          </a:xfrm>
        </p:grpSpPr>
        <p:sp>
          <p:nvSpPr>
            <p:cNvPr id="14" name="Freeform 14"/>
            <p:cNvSpPr/>
            <p:nvPr/>
          </p:nvSpPr>
          <p:spPr>
            <a:xfrm>
              <a:off x="0" y="0"/>
              <a:ext cx="1075005" cy="812800"/>
            </a:xfrm>
            <a:custGeom>
              <a:avLst/>
              <a:gdLst/>
              <a:ahLst/>
              <a:cxnLst/>
              <a:rect l="l" t="t" r="r" b="b"/>
              <a:pathLst>
                <a:path w="1075005" h="812800">
                  <a:moveTo>
                    <a:pt x="1075005" y="406400"/>
                  </a:moveTo>
                  <a:lnTo>
                    <a:pt x="668605" y="0"/>
                  </a:lnTo>
                  <a:lnTo>
                    <a:pt x="668605" y="203200"/>
                  </a:lnTo>
                  <a:lnTo>
                    <a:pt x="0" y="203200"/>
                  </a:lnTo>
                  <a:lnTo>
                    <a:pt x="0" y="609600"/>
                  </a:lnTo>
                  <a:lnTo>
                    <a:pt x="668605" y="609600"/>
                  </a:lnTo>
                  <a:lnTo>
                    <a:pt x="668605" y="812800"/>
                  </a:lnTo>
                  <a:lnTo>
                    <a:pt x="1075005" y="406400"/>
                  </a:lnTo>
                  <a:close/>
                </a:path>
              </a:pathLst>
            </a:custGeom>
            <a:solidFill>
              <a:srgbClr val="000B3D"/>
            </a:solidFill>
          </p:spPr>
          <p:txBody>
            <a:bodyPr/>
            <a:lstStyle/>
            <a:p>
              <a:endParaRPr lang="pt-PT"/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0" y="193675"/>
              <a:ext cx="973405" cy="41592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400"/>
                </a:lnSpc>
              </a:pPr>
              <a:endParaRPr/>
            </a:p>
          </p:txBody>
        </p:sp>
      </p:grpSp>
      <p:grpSp>
        <p:nvGrpSpPr>
          <p:cNvPr id="16" name="Group 16"/>
          <p:cNvGrpSpPr/>
          <p:nvPr/>
        </p:nvGrpSpPr>
        <p:grpSpPr>
          <a:xfrm>
            <a:off x="6809267" y="4648914"/>
            <a:ext cx="705541" cy="533452"/>
            <a:chOff x="0" y="0"/>
            <a:chExt cx="1075005" cy="812800"/>
          </a:xfrm>
        </p:grpSpPr>
        <p:sp>
          <p:nvSpPr>
            <p:cNvPr id="17" name="Freeform 17"/>
            <p:cNvSpPr/>
            <p:nvPr/>
          </p:nvSpPr>
          <p:spPr>
            <a:xfrm>
              <a:off x="0" y="0"/>
              <a:ext cx="1075005" cy="812800"/>
            </a:xfrm>
            <a:custGeom>
              <a:avLst/>
              <a:gdLst/>
              <a:ahLst/>
              <a:cxnLst/>
              <a:rect l="l" t="t" r="r" b="b"/>
              <a:pathLst>
                <a:path w="1075005" h="812800">
                  <a:moveTo>
                    <a:pt x="1075005" y="406400"/>
                  </a:moveTo>
                  <a:lnTo>
                    <a:pt x="668605" y="0"/>
                  </a:lnTo>
                  <a:lnTo>
                    <a:pt x="668605" y="203200"/>
                  </a:lnTo>
                  <a:lnTo>
                    <a:pt x="0" y="203200"/>
                  </a:lnTo>
                  <a:lnTo>
                    <a:pt x="0" y="609600"/>
                  </a:lnTo>
                  <a:lnTo>
                    <a:pt x="668605" y="609600"/>
                  </a:lnTo>
                  <a:lnTo>
                    <a:pt x="668605" y="812800"/>
                  </a:lnTo>
                  <a:lnTo>
                    <a:pt x="1075005" y="406400"/>
                  </a:lnTo>
                  <a:close/>
                </a:path>
              </a:pathLst>
            </a:custGeom>
            <a:solidFill>
              <a:srgbClr val="000B3D"/>
            </a:solidFill>
          </p:spPr>
          <p:txBody>
            <a:bodyPr/>
            <a:lstStyle/>
            <a:p>
              <a:endParaRPr lang="pt-PT"/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0" y="193675"/>
              <a:ext cx="973405" cy="41592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400"/>
                </a:lnSpc>
              </a:pPr>
              <a:endParaRPr/>
            </a:p>
          </p:txBody>
        </p:sp>
      </p:grpSp>
      <p:sp>
        <p:nvSpPr>
          <p:cNvPr id="19" name="Freeform 19"/>
          <p:cNvSpPr/>
          <p:nvPr/>
        </p:nvSpPr>
        <p:spPr>
          <a:xfrm>
            <a:off x="8065824" y="2503358"/>
            <a:ext cx="2336104" cy="4824564"/>
          </a:xfrm>
          <a:custGeom>
            <a:avLst/>
            <a:gdLst/>
            <a:ahLst/>
            <a:cxnLst/>
            <a:rect l="l" t="t" r="r" b="b"/>
            <a:pathLst>
              <a:path w="2336104" h="4824564">
                <a:moveTo>
                  <a:pt x="0" y="0"/>
                </a:moveTo>
                <a:lnTo>
                  <a:pt x="2336105" y="0"/>
                </a:lnTo>
                <a:lnTo>
                  <a:pt x="2336105" y="4824564"/>
                </a:lnTo>
                <a:lnTo>
                  <a:pt x="0" y="4824564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>
              <a:fillRect/>
            </a:stretch>
          </a:blipFill>
        </p:spPr>
        <p:txBody>
          <a:bodyPr/>
          <a:lstStyle/>
          <a:p>
            <a:endParaRPr lang="pt-PT"/>
          </a:p>
        </p:txBody>
      </p:sp>
      <p:grpSp>
        <p:nvGrpSpPr>
          <p:cNvPr id="20" name="Group 20"/>
          <p:cNvGrpSpPr/>
          <p:nvPr/>
        </p:nvGrpSpPr>
        <p:grpSpPr>
          <a:xfrm>
            <a:off x="10401929" y="4648914"/>
            <a:ext cx="705541" cy="533452"/>
            <a:chOff x="0" y="0"/>
            <a:chExt cx="1075005" cy="812800"/>
          </a:xfrm>
        </p:grpSpPr>
        <p:sp>
          <p:nvSpPr>
            <p:cNvPr id="21" name="Freeform 21"/>
            <p:cNvSpPr/>
            <p:nvPr/>
          </p:nvSpPr>
          <p:spPr>
            <a:xfrm>
              <a:off x="0" y="0"/>
              <a:ext cx="1075005" cy="812800"/>
            </a:xfrm>
            <a:custGeom>
              <a:avLst/>
              <a:gdLst/>
              <a:ahLst/>
              <a:cxnLst/>
              <a:rect l="l" t="t" r="r" b="b"/>
              <a:pathLst>
                <a:path w="1075005" h="812800">
                  <a:moveTo>
                    <a:pt x="1075005" y="406400"/>
                  </a:moveTo>
                  <a:lnTo>
                    <a:pt x="668605" y="0"/>
                  </a:lnTo>
                  <a:lnTo>
                    <a:pt x="668605" y="203200"/>
                  </a:lnTo>
                  <a:lnTo>
                    <a:pt x="0" y="203200"/>
                  </a:lnTo>
                  <a:lnTo>
                    <a:pt x="0" y="609600"/>
                  </a:lnTo>
                  <a:lnTo>
                    <a:pt x="668605" y="609600"/>
                  </a:lnTo>
                  <a:lnTo>
                    <a:pt x="668605" y="812800"/>
                  </a:lnTo>
                  <a:lnTo>
                    <a:pt x="1075005" y="406400"/>
                  </a:lnTo>
                  <a:close/>
                </a:path>
              </a:pathLst>
            </a:custGeom>
            <a:solidFill>
              <a:srgbClr val="000B3D"/>
            </a:solidFill>
          </p:spPr>
          <p:txBody>
            <a:bodyPr/>
            <a:lstStyle/>
            <a:p>
              <a:endParaRPr lang="pt-PT"/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0" y="193675"/>
              <a:ext cx="973405" cy="41592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400"/>
                </a:lnSpc>
              </a:pPr>
              <a:endParaRPr/>
            </a:p>
          </p:txBody>
        </p:sp>
      </p:grpSp>
      <p:grpSp>
        <p:nvGrpSpPr>
          <p:cNvPr id="23" name="Group 23"/>
          <p:cNvGrpSpPr/>
          <p:nvPr/>
        </p:nvGrpSpPr>
        <p:grpSpPr>
          <a:xfrm>
            <a:off x="14133230" y="4648914"/>
            <a:ext cx="705541" cy="533452"/>
            <a:chOff x="0" y="0"/>
            <a:chExt cx="1075005" cy="812800"/>
          </a:xfrm>
        </p:grpSpPr>
        <p:sp>
          <p:nvSpPr>
            <p:cNvPr id="24" name="Freeform 24"/>
            <p:cNvSpPr/>
            <p:nvPr/>
          </p:nvSpPr>
          <p:spPr>
            <a:xfrm>
              <a:off x="0" y="0"/>
              <a:ext cx="1075005" cy="812800"/>
            </a:xfrm>
            <a:custGeom>
              <a:avLst/>
              <a:gdLst/>
              <a:ahLst/>
              <a:cxnLst/>
              <a:rect l="l" t="t" r="r" b="b"/>
              <a:pathLst>
                <a:path w="1075005" h="812800">
                  <a:moveTo>
                    <a:pt x="1075005" y="406400"/>
                  </a:moveTo>
                  <a:lnTo>
                    <a:pt x="668605" y="0"/>
                  </a:lnTo>
                  <a:lnTo>
                    <a:pt x="668605" y="203200"/>
                  </a:lnTo>
                  <a:lnTo>
                    <a:pt x="0" y="203200"/>
                  </a:lnTo>
                  <a:lnTo>
                    <a:pt x="0" y="609600"/>
                  </a:lnTo>
                  <a:lnTo>
                    <a:pt x="668605" y="609600"/>
                  </a:lnTo>
                  <a:lnTo>
                    <a:pt x="668605" y="812800"/>
                  </a:lnTo>
                  <a:lnTo>
                    <a:pt x="1075005" y="406400"/>
                  </a:lnTo>
                  <a:close/>
                </a:path>
              </a:pathLst>
            </a:custGeom>
            <a:solidFill>
              <a:srgbClr val="000B3D"/>
            </a:solidFill>
          </p:spPr>
          <p:txBody>
            <a:bodyPr/>
            <a:lstStyle/>
            <a:p>
              <a:endParaRPr lang="pt-PT"/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0" y="193675"/>
              <a:ext cx="973405" cy="41592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400"/>
                </a:lnSpc>
              </a:pPr>
              <a:endParaRPr/>
            </a:p>
          </p:txBody>
        </p:sp>
      </p:grp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rgbClr val="214859">
                <a:alpha val="100000"/>
              </a:srgbClr>
            </a:gs>
            <a:gs pos="100000">
              <a:srgbClr val="131F40">
                <a:alpha val="100000"/>
              </a:srgbClr>
            </a:gs>
          </a:gsLst>
          <a:lin ang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388441" y="7505700"/>
            <a:ext cx="5948182" cy="5948182"/>
          </a:xfrm>
          <a:custGeom>
            <a:avLst/>
            <a:gdLst/>
            <a:ahLst/>
            <a:cxnLst/>
            <a:rect l="l" t="t" r="r" b="b"/>
            <a:pathLst>
              <a:path w="5948182" h="5948182">
                <a:moveTo>
                  <a:pt x="0" y="0"/>
                </a:moveTo>
                <a:lnTo>
                  <a:pt x="5948182" y="0"/>
                </a:lnTo>
                <a:lnTo>
                  <a:pt x="5948182" y="5948182"/>
                </a:lnTo>
                <a:lnTo>
                  <a:pt x="0" y="5948182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pt-PT"/>
          </a:p>
        </p:txBody>
      </p:sp>
      <p:sp>
        <p:nvSpPr>
          <p:cNvPr id="3" name="TextBox 3"/>
          <p:cNvSpPr txBox="1"/>
          <p:nvPr/>
        </p:nvSpPr>
        <p:spPr>
          <a:xfrm>
            <a:off x="1969502" y="354755"/>
            <a:ext cx="12589912" cy="135064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800"/>
              </a:lnSpc>
            </a:pPr>
            <a:r>
              <a:rPr lang="en-US" sz="4800">
                <a:solidFill>
                  <a:srgbClr val="84E3F8"/>
                </a:solidFill>
                <a:latin typeface="Antique Olive"/>
                <a:ea typeface="Antique Olive"/>
                <a:cs typeface="Antique Olive"/>
                <a:sym typeface="Antique Olive"/>
              </a:rPr>
              <a:t>Experience 2:</a:t>
            </a:r>
          </a:p>
          <a:p>
            <a:pPr algn="l">
              <a:lnSpc>
                <a:spcPts val="4800"/>
              </a:lnSpc>
            </a:pPr>
            <a:r>
              <a:rPr lang="en-US" sz="4800">
                <a:solidFill>
                  <a:srgbClr val="84E3F8"/>
                </a:solidFill>
                <a:latin typeface="Antique Olive"/>
                <a:ea typeface="Antique Olive"/>
                <a:cs typeface="Antique Olive"/>
                <a:sym typeface="Antique Olive"/>
              </a:rPr>
              <a:t>Static Environment with Unknown Map</a:t>
            </a:r>
          </a:p>
        </p:txBody>
      </p:sp>
      <p:sp>
        <p:nvSpPr>
          <p:cNvPr id="4" name="Freeform 4"/>
          <p:cNvSpPr/>
          <p:nvPr/>
        </p:nvSpPr>
        <p:spPr>
          <a:xfrm>
            <a:off x="15134207" y="-2437066"/>
            <a:ext cx="5948182" cy="5948182"/>
          </a:xfrm>
          <a:custGeom>
            <a:avLst/>
            <a:gdLst/>
            <a:ahLst/>
            <a:cxnLst/>
            <a:rect l="l" t="t" r="r" b="b"/>
            <a:pathLst>
              <a:path w="5948182" h="5948182">
                <a:moveTo>
                  <a:pt x="0" y="0"/>
                </a:moveTo>
                <a:lnTo>
                  <a:pt x="5948182" y="0"/>
                </a:lnTo>
                <a:lnTo>
                  <a:pt x="5948182" y="5948182"/>
                </a:lnTo>
                <a:lnTo>
                  <a:pt x="0" y="5948182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pt-PT"/>
          </a:p>
        </p:txBody>
      </p:sp>
      <p:sp>
        <p:nvSpPr>
          <p:cNvPr id="5" name="Freeform 5"/>
          <p:cNvSpPr/>
          <p:nvPr/>
        </p:nvSpPr>
        <p:spPr>
          <a:xfrm>
            <a:off x="388441" y="364280"/>
            <a:ext cx="1280518" cy="1328840"/>
          </a:xfrm>
          <a:custGeom>
            <a:avLst/>
            <a:gdLst/>
            <a:ahLst/>
            <a:cxnLst/>
            <a:rect l="l" t="t" r="r" b="b"/>
            <a:pathLst>
              <a:path w="1280518" h="1328840">
                <a:moveTo>
                  <a:pt x="0" y="0"/>
                </a:moveTo>
                <a:lnTo>
                  <a:pt x="1280518" y="0"/>
                </a:lnTo>
                <a:lnTo>
                  <a:pt x="1280518" y="1328840"/>
                </a:lnTo>
                <a:lnTo>
                  <a:pt x="0" y="1328840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pt-PT"/>
          </a:p>
        </p:txBody>
      </p:sp>
      <p:pic>
        <p:nvPicPr>
          <p:cNvPr id="7" name="video_exp2">
            <a:hlinkClick r:id="" action="ppaction://media"/>
            <a:extLst>
              <a:ext uri="{FF2B5EF4-FFF2-40B4-BE49-F238E27FC236}">
                <a16:creationId xmlns:a16="http://schemas.microsoft.com/office/drawing/2014/main" id="{9BB8323F-F161-A174-60C8-F0CCA71C0AC7}"/>
              </a:ext>
            </a:extLst>
          </p:cNvPr>
          <p:cNvPicPr>
            <a:picLocks noChangeAspect="1"/>
          </p:cNvPicPr>
          <p:nvPr>
            <a:vide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7"/>
          <a:stretch>
            <a:fillRect/>
          </a:stretch>
        </p:blipFill>
        <p:spPr>
          <a:xfrm>
            <a:off x="1447800" y="2298187"/>
            <a:ext cx="14353361" cy="7599969"/>
          </a:xfrm>
          <a:prstGeom prst="rect">
            <a:avLst/>
          </a:prstGeom>
          <a:solidFill>
            <a:srgbClr val="FFFFFF">
              <a:shade val="85000"/>
            </a:srgbClr>
          </a:solidFill>
          <a:ln w="88900" cap="sq">
            <a:solidFill>
              <a:srgbClr val="FFFFFF"/>
            </a:solidFill>
            <a:prstDash val="solid"/>
            <a:miter lim="800000"/>
          </a:ln>
          <a:effectLst>
            <a:outerShdw blurRad="55000" dist="18000" dir="54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45952" fill="hold"/>
                                        <p:tgtEl>
                                          <p:spTgt spid="7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80000">
                <p:cTn id="7" fill="hold" display="0">
                  <p:stCondLst>
                    <p:cond delay="indefinite"/>
                  </p:stCondLst>
                </p:cTn>
                <p:tgtEl>
                  <p:spTgt spid="7"/>
                </p:tgtEl>
              </p:cMediaNode>
            </p:video>
            <p:seq concurrent="1" nextAc="seek">
              <p:cTn id="8" restart="whenNotActive" fill="hold" evtFilter="cancelBubble" nodeType="interactiveSeq">
                <p:stCondLst>
                  <p:cond evt="onClick" delay="0">
                    <p:tgtEl>
                      <p:spTgt spid="7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9" fill="hold">
                      <p:stCondLst>
                        <p:cond delay="0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12" dur="1" fill="hold"/>
                                        <p:tgtEl>
                                          <p:spTgt spid="7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7"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rgbClr val="214859">
                <a:alpha val="100000"/>
              </a:srgbClr>
            </a:gs>
            <a:gs pos="100000">
              <a:srgbClr val="131F40">
                <a:alpha val="100000"/>
              </a:srgbClr>
            </a:gs>
          </a:gsLst>
          <a:lin ang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 flipH="1" flipV="1">
            <a:off x="13077648" y="8298041"/>
            <a:ext cx="5210352" cy="7293141"/>
          </a:xfrm>
          <a:custGeom>
            <a:avLst/>
            <a:gdLst/>
            <a:ahLst/>
            <a:cxnLst/>
            <a:rect l="l" t="t" r="r" b="b"/>
            <a:pathLst>
              <a:path w="5210352" h="7293141">
                <a:moveTo>
                  <a:pt x="5210352" y="7293140"/>
                </a:moveTo>
                <a:lnTo>
                  <a:pt x="0" y="7293140"/>
                </a:lnTo>
                <a:lnTo>
                  <a:pt x="0" y="0"/>
                </a:lnTo>
                <a:lnTo>
                  <a:pt x="5210352" y="0"/>
                </a:lnTo>
                <a:lnTo>
                  <a:pt x="5210352" y="729314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 l="-39974"/>
            </a:stretch>
          </a:blipFill>
        </p:spPr>
        <p:txBody>
          <a:bodyPr/>
          <a:lstStyle/>
          <a:p>
            <a:endParaRPr lang="pt-PT"/>
          </a:p>
        </p:txBody>
      </p:sp>
      <p:sp>
        <p:nvSpPr>
          <p:cNvPr id="3" name="Freeform 3"/>
          <p:cNvSpPr/>
          <p:nvPr/>
        </p:nvSpPr>
        <p:spPr>
          <a:xfrm>
            <a:off x="311398" y="198836"/>
            <a:ext cx="1358097" cy="1422768"/>
          </a:xfrm>
          <a:custGeom>
            <a:avLst/>
            <a:gdLst/>
            <a:ahLst/>
            <a:cxnLst/>
            <a:rect l="l" t="t" r="r" b="b"/>
            <a:pathLst>
              <a:path w="1358097" h="1422768">
                <a:moveTo>
                  <a:pt x="0" y="0"/>
                </a:moveTo>
                <a:lnTo>
                  <a:pt x="1358097" y="0"/>
                </a:lnTo>
                <a:lnTo>
                  <a:pt x="1358097" y="1422768"/>
                </a:lnTo>
                <a:lnTo>
                  <a:pt x="0" y="1422768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pt-PT"/>
          </a:p>
        </p:txBody>
      </p:sp>
      <p:grpSp>
        <p:nvGrpSpPr>
          <p:cNvPr id="4" name="Group 4"/>
          <p:cNvGrpSpPr/>
          <p:nvPr/>
        </p:nvGrpSpPr>
        <p:grpSpPr>
          <a:xfrm>
            <a:off x="990446" y="2472314"/>
            <a:ext cx="5170284" cy="6623477"/>
            <a:chOff x="0" y="0"/>
            <a:chExt cx="1361721" cy="1744455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1361721" cy="1744455"/>
            </a:xfrm>
            <a:custGeom>
              <a:avLst/>
              <a:gdLst/>
              <a:ahLst/>
              <a:cxnLst/>
              <a:rect l="l" t="t" r="r" b="b"/>
              <a:pathLst>
                <a:path w="1361721" h="1744455">
                  <a:moveTo>
                    <a:pt x="107812" y="0"/>
                  </a:moveTo>
                  <a:lnTo>
                    <a:pt x="1253909" y="0"/>
                  </a:lnTo>
                  <a:cubicBezTo>
                    <a:pt x="1313452" y="0"/>
                    <a:pt x="1361721" y="48269"/>
                    <a:pt x="1361721" y="107812"/>
                  </a:cubicBezTo>
                  <a:lnTo>
                    <a:pt x="1361721" y="1636643"/>
                  </a:lnTo>
                  <a:cubicBezTo>
                    <a:pt x="1361721" y="1696186"/>
                    <a:pt x="1313452" y="1744455"/>
                    <a:pt x="1253909" y="1744455"/>
                  </a:cubicBezTo>
                  <a:lnTo>
                    <a:pt x="107812" y="1744455"/>
                  </a:lnTo>
                  <a:cubicBezTo>
                    <a:pt x="48269" y="1744455"/>
                    <a:pt x="0" y="1696186"/>
                    <a:pt x="0" y="1636643"/>
                  </a:cubicBezTo>
                  <a:lnTo>
                    <a:pt x="0" y="107812"/>
                  </a:lnTo>
                  <a:cubicBezTo>
                    <a:pt x="0" y="48269"/>
                    <a:pt x="48269" y="0"/>
                    <a:pt x="107812" y="0"/>
                  </a:cubicBezTo>
                  <a:close/>
                </a:path>
              </a:pathLst>
            </a:custGeom>
            <a:solidFill>
              <a:srgbClr val="99E17A"/>
            </a:solidFill>
          </p:spPr>
          <p:txBody>
            <a:bodyPr/>
            <a:lstStyle/>
            <a:p>
              <a:endParaRPr lang="pt-PT"/>
            </a:p>
          </p:txBody>
        </p:sp>
        <p:sp>
          <p:nvSpPr>
            <p:cNvPr id="6" name="TextBox 6"/>
            <p:cNvSpPr txBox="1"/>
            <p:nvPr/>
          </p:nvSpPr>
          <p:spPr>
            <a:xfrm>
              <a:off x="0" y="-57150"/>
              <a:ext cx="1361721" cy="180160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012"/>
                </a:lnSpc>
              </a:pPr>
              <a:endParaRPr/>
            </a:p>
          </p:txBody>
        </p:sp>
      </p:grpSp>
      <p:sp>
        <p:nvSpPr>
          <p:cNvPr id="7" name="Freeform 7"/>
          <p:cNvSpPr/>
          <p:nvPr/>
        </p:nvSpPr>
        <p:spPr>
          <a:xfrm>
            <a:off x="1338889" y="2729911"/>
            <a:ext cx="4398594" cy="1002987"/>
          </a:xfrm>
          <a:custGeom>
            <a:avLst/>
            <a:gdLst/>
            <a:ahLst/>
            <a:cxnLst/>
            <a:rect l="l" t="t" r="r" b="b"/>
            <a:pathLst>
              <a:path w="4398594" h="1002987">
                <a:moveTo>
                  <a:pt x="0" y="0"/>
                </a:moveTo>
                <a:lnTo>
                  <a:pt x="4398594" y="0"/>
                </a:lnTo>
                <a:lnTo>
                  <a:pt x="4398594" y="1002987"/>
                </a:lnTo>
                <a:lnTo>
                  <a:pt x="0" y="1002987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-8694" r="-148234"/>
            </a:stretch>
          </a:blipFill>
        </p:spPr>
        <p:txBody>
          <a:bodyPr/>
          <a:lstStyle/>
          <a:p>
            <a:endParaRPr lang="pt-PT"/>
          </a:p>
        </p:txBody>
      </p:sp>
      <p:sp>
        <p:nvSpPr>
          <p:cNvPr id="8" name="Freeform 8"/>
          <p:cNvSpPr/>
          <p:nvPr/>
        </p:nvSpPr>
        <p:spPr>
          <a:xfrm>
            <a:off x="1094488" y="3978006"/>
            <a:ext cx="752775" cy="806544"/>
          </a:xfrm>
          <a:custGeom>
            <a:avLst/>
            <a:gdLst/>
            <a:ahLst/>
            <a:cxnLst/>
            <a:rect l="l" t="t" r="r" b="b"/>
            <a:pathLst>
              <a:path w="752775" h="806544">
                <a:moveTo>
                  <a:pt x="0" y="0"/>
                </a:moveTo>
                <a:lnTo>
                  <a:pt x="752775" y="0"/>
                </a:lnTo>
                <a:lnTo>
                  <a:pt x="752775" y="806544"/>
                </a:lnTo>
                <a:lnTo>
                  <a:pt x="0" y="806544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/>
            </a:stretch>
          </a:blipFill>
        </p:spPr>
        <p:txBody>
          <a:bodyPr/>
          <a:lstStyle/>
          <a:p>
            <a:endParaRPr lang="pt-PT"/>
          </a:p>
        </p:txBody>
      </p:sp>
      <p:sp>
        <p:nvSpPr>
          <p:cNvPr id="9" name="Freeform 9"/>
          <p:cNvSpPr/>
          <p:nvPr/>
        </p:nvSpPr>
        <p:spPr>
          <a:xfrm>
            <a:off x="1084950" y="4949138"/>
            <a:ext cx="762312" cy="834914"/>
          </a:xfrm>
          <a:custGeom>
            <a:avLst/>
            <a:gdLst/>
            <a:ahLst/>
            <a:cxnLst/>
            <a:rect l="l" t="t" r="r" b="b"/>
            <a:pathLst>
              <a:path w="762312" h="834914">
                <a:moveTo>
                  <a:pt x="0" y="0"/>
                </a:moveTo>
                <a:lnTo>
                  <a:pt x="762313" y="0"/>
                </a:lnTo>
                <a:lnTo>
                  <a:pt x="762313" y="834914"/>
                </a:lnTo>
                <a:lnTo>
                  <a:pt x="0" y="834914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>
              <a:fillRect/>
            </a:stretch>
          </a:blipFill>
        </p:spPr>
        <p:txBody>
          <a:bodyPr/>
          <a:lstStyle/>
          <a:p>
            <a:endParaRPr lang="pt-PT"/>
          </a:p>
        </p:txBody>
      </p:sp>
      <p:sp>
        <p:nvSpPr>
          <p:cNvPr id="10" name="Freeform 10"/>
          <p:cNvSpPr/>
          <p:nvPr/>
        </p:nvSpPr>
        <p:spPr>
          <a:xfrm>
            <a:off x="1094488" y="6117427"/>
            <a:ext cx="762312" cy="834914"/>
          </a:xfrm>
          <a:custGeom>
            <a:avLst/>
            <a:gdLst/>
            <a:ahLst/>
            <a:cxnLst/>
            <a:rect l="l" t="t" r="r" b="b"/>
            <a:pathLst>
              <a:path w="762312" h="834914">
                <a:moveTo>
                  <a:pt x="0" y="0"/>
                </a:moveTo>
                <a:lnTo>
                  <a:pt x="762313" y="0"/>
                </a:lnTo>
                <a:lnTo>
                  <a:pt x="762313" y="834914"/>
                </a:lnTo>
                <a:lnTo>
                  <a:pt x="0" y="834914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>
              <a:fillRect/>
            </a:stretch>
          </a:blipFill>
        </p:spPr>
        <p:txBody>
          <a:bodyPr/>
          <a:lstStyle/>
          <a:p>
            <a:endParaRPr lang="pt-PT"/>
          </a:p>
        </p:txBody>
      </p:sp>
      <p:sp>
        <p:nvSpPr>
          <p:cNvPr id="11" name="Freeform 11"/>
          <p:cNvSpPr/>
          <p:nvPr/>
        </p:nvSpPr>
        <p:spPr>
          <a:xfrm>
            <a:off x="1129822" y="7592421"/>
            <a:ext cx="762312" cy="834914"/>
          </a:xfrm>
          <a:custGeom>
            <a:avLst/>
            <a:gdLst/>
            <a:ahLst/>
            <a:cxnLst/>
            <a:rect l="l" t="t" r="r" b="b"/>
            <a:pathLst>
              <a:path w="762312" h="834914">
                <a:moveTo>
                  <a:pt x="0" y="0"/>
                </a:moveTo>
                <a:lnTo>
                  <a:pt x="762312" y="0"/>
                </a:lnTo>
                <a:lnTo>
                  <a:pt x="762312" y="834913"/>
                </a:lnTo>
                <a:lnTo>
                  <a:pt x="0" y="834913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>
              <a:fillRect/>
            </a:stretch>
          </a:blipFill>
        </p:spPr>
        <p:txBody>
          <a:bodyPr/>
          <a:lstStyle/>
          <a:p>
            <a:endParaRPr lang="pt-PT"/>
          </a:p>
        </p:txBody>
      </p:sp>
      <p:grpSp>
        <p:nvGrpSpPr>
          <p:cNvPr id="12" name="Group 12"/>
          <p:cNvGrpSpPr/>
          <p:nvPr/>
        </p:nvGrpSpPr>
        <p:grpSpPr>
          <a:xfrm>
            <a:off x="6558858" y="2472314"/>
            <a:ext cx="5170284" cy="6623477"/>
            <a:chOff x="0" y="0"/>
            <a:chExt cx="1361721" cy="1744455"/>
          </a:xfrm>
        </p:grpSpPr>
        <p:sp>
          <p:nvSpPr>
            <p:cNvPr id="13" name="Freeform 13"/>
            <p:cNvSpPr/>
            <p:nvPr/>
          </p:nvSpPr>
          <p:spPr>
            <a:xfrm>
              <a:off x="0" y="0"/>
              <a:ext cx="1361721" cy="1744455"/>
            </a:xfrm>
            <a:custGeom>
              <a:avLst/>
              <a:gdLst/>
              <a:ahLst/>
              <a:cxnLst/>
              <a:rect l="l" t="t" r="r" b="b"/>
              <a:pathLst>
                <a:path w="1361721" h="1744455">
                  <a:moveTo>
                    <a:pt x="107812" y="0"/>
                  </a:moveTo>
                  <a:lnTo>
                    <a:pt x="1253909" y="0"/>
                  </a:lnTo>
                  <a:cubicBezTo>
                    <a:pt x="1313452" y="0"/>
                    <a:pt x="1361721" y="48269"/>
                    <a:pt x="1361721" y="107812"/>
                  </a:cubicBezTo>
                  <a:lnTo>
                    <a:pt x="1361721" y="1636643"/>
                  </a:lnTo>
                  <a:cubicBezTo>
                    <a:pt x="1361721" y="1696186"/>
                    <a:pt x="1313452" y="1744455"/>
                    <a:pt x="1253909" y="1744455"/>
                  </a:cubicBezTo>
                  <a:lnTo>
                    <a:pt x="107812" y="1744455"/>
                  </a:lnTo>
                  <a:cubicBezTo>
                    <a:pt x="48269" y="1744455"/>
                    <a:pt x="0" y="1696186"/>
                    <a:pt x="0" y="1636643"/>
                  </a:cubicBezTo>
                  <a:lnTo>
                    <a:pt x="0" y="107812"/>
                  </a:lnTo>
                  <a:cubicBezTo>
                    <a:pt x="0" y="48269"/>
                    <a:pt x="48269" y="0"/>
                    <a:pt x="107812" y="0"/>
                  </a:cubicBezTo>
                  <a:close/>
                </a:path>
              </a:pathLst>
            </a:custGeom>
            <a:solidFill>
              <a:srgbClr val="FBCD3F"/>
            </a:solidFill>
          </p:spPr>
          <p:txBody>
            <a:bodyPr/>
            <a:lstStyle/>
            <a:p>
              <a:endParaRPr lang="pt-PT"/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0" y="-57150"/>
              <a:ext cx="1361721" cy="180160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012"/>
                </a:lnSpc>
              </a:pPr>
              <a:endParaRPr/>
            </a:p>
          </p:txBody>
        </p:sp>
      </p:grpSp>
      <p:grpSp>
        <p:nvGrpSpPr>
          <p:cNvPr id="15" name="Group 15"/>
          <p:cNvGrpSpPr/>
          <p:nvPr/>
        </p:nvGrpSpPr>
        <p:grpSpPr>
          <a:xfrm>
            <a:off x="12357792" y="2472314"/>
            <a:ext cx="5170284" cy="6623477"/>
            <a:chOff x="0" y="0"/>
            <a:chExt cx="1361721" cy="1744455"/>
          </a:xfrm>
        </p:grpSpPr>
        <p:sp>
          <p:nvSpPr>
            <p:cNvPr id="16" name="Freeform 16"/>
            <p:cNvSpPr/>
            <p:nvPr/>
          </p:nvSpPr>
          <p:spPr>
            <a:xfrm>
              <a:off x="0" y="0"/>
              <a:ext cx="1361721" cy="1744455"/>
            </a:xfrm>
            <a:custGeom>
              <a:avLst/>
              <a:gdLst/>
              <a:ahLst/>
              <a:cxnLst/>
              <a:rect l="l" t="t" r="r" b="b"/>
              <a:pathLst>
                <a:path w="1361721" h="1744455">
                  <a:moveTo>
                    <a:pt x="107812" y="0"/>
                  </a:moveTo>
                  <a:lnTo>
                    <a:pt x="1253909" y="0"/>
                  </a:lnTo>
                  <a:cubicBezTo>
                    <a:pt x="1313452" y="0"/>
                    <a:pt x="1361721" y="48269"/>
                    <a:pt x="1361721" y="107812"/>
                  </a:cubicBezTo>
                  <a:lnTo>
                    <a:pt x="1361721" y="1636643"/>
                  </a:lnTo>
                  <a:cubicBezTo>
                    <a:pt x="1361721" y="1696186"/>
                    <a:pt x="1313452" y="1744455"/>
                    <a:pt x="1253909" y="1744455"/>
                  </a:cubicBezTo>
                  <a:lnTo>
                    <a:pt x="107812" y="1744455"/>
                  </a:lnTo>
                  <a:cubicBezTo>
                    <a:pt x="48269" y="1744455"/>
                    <a:pt x="0" y="1696186"/>
                    <a:pt x="0" y="1636643"/>
                  </a:cubicBezTo>
                  <a:lnTo>
                    <a:pt x="0" y="107812"/>
                  </a:lnTo>
                  <a:cubicBezTo>
                    <a:pt x="0" y="48269"/>
                    <a:pt x="48269" y="0"/>
                    <a:pt x="107812" y="0"/>
                  </a:cubicBezTo>
                  <a:close/>
                </a:path>
              </a:pathLst>
            </a:custGeom>
            <a:solidFill>
              <a:srgbClr val="57A2C2"/>
            </a:solidFill>
          </p:spPr>
          <p:txBody>
            <a:bodyPr/>
            <a:lstStyle/>
            <a:p>
              <a:endParaRPr lang="pt-PT"/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0" y="-57150"/>
              <a:ext cx="1361721" cy="180160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012"/>
                </a:lnSpc>
              </a:pPr>
              <a:endParaRPr/>
            </a:p>
          </p:txBody>
        </p:sp>
      </p:grpSp>
      <p:sp>
        <p:nvSpPr>
          <p:cNvPr id="18" name="Freeform 18"/>
          <p:cNvSpPr/>
          <p:nvPr/>
        </p:nvSpPr>
        <p:spPr>
          <a:xfrm>
            <a:off x="6944703" y="2729911"/>
            <a:ext cx="4398594" cy="1002987"/>
          </a:xfrm>
          <a:custGeom>
            <a:avLst/>
            <a:gdLst/>
            <a:ahLst/>
            <a:cxnLst/>
            <a:rect l="l" t="t" r="r" b="b"/>
            <a:pathLst>
              <a:path w="4398594" h="1002987">
                <a:moveTo>
                  <a:pt x="0" y="0"/>
                </a:moveTo>
                <a:lnTo>
                  <a:pt x="4398594" y="0"/>
                </a:lnTo>
                <a:lnTo>
                  <a:pt x="4398594" y="1002987"/>
                </a:lnTo>
                <a:lnTo>
                  <a:pt x="0" y="1002987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>
              <a:fillRect l="-8694" r="-148234"/>
            </a:stretch>
          </a:blipFill>
        </p:spPr>
        <p:txBody>
          <a:bodyPr/>
          <a:lstStyle/>
          <a:p>
            <a:endParaRPr lang="pt-PT"/>
          </a:p>
        </p:txBody>
      </p:sp>
      <p:sp>
        <p:nvSpPr>
          <p:cNvPr id="19" name="Freeform 19"/>
          <p:cNvSpPr/>
          <p:nvPr/>
        </p:nvSpPr>
        <p:spPr>
          <a:xfrm>
            <a:off x="12743637" y="2729911"/>
            <a:ext cx="4398594" cy="1002987"/>
          </a:xfrm>
          <a:custGeom>
            <a:avLst/>
            <a:gdLst/>
            <a:ahLst/>
            <a:cxnLst/>
            <a:rect l="l" t="t" r="r" b="b"/>
            <a:pathLst>
              <a:path w="4398594" h="1002987">
                <a:moveTo>
                  <a:pt x="0" y="0"/>
                </a:moveTo>
                <a:lnTo>
                  <a:pt x="4398594" y="0"/>
                </a:lnTo>
                <a:lnTo>
                  <a:pt x="4398594" y="1002987"/>
                </a:lnTo>
                <a:lnTo>
                  <a:pt x="0" y="1002987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>
              <a:fillRect l="-8694" r="-148234"/>
            </a:stretch>
          </a:blipFill>
        </p:spPr>
        <p:txBody>
          <a:bodyPr/>
          <a:lstStyle/>
          <a:p>
            <a:endParaRPr lang="pt-PT"/>
          </a:p>
        </p:txBody>
      </p:sp>
      <p:sp>
        <p:nvSpPr>
          <p:cNvPr id="20" name="TextBox 20"/>
          <p:cNvSpPr txBox="1"/>
          <p:nvPr/>
        </p:nvSpPr>
        <p:spPr>
          <a:xfrm>
            <a:off x="1847263" y="534935"/>
            <a:ext cx="7474505" cy="74104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800"/>
              </a:lnSpc>
            </a:pPr>
            <a:r>
              <a:rPr lang="en-US" sz="4800">
                <a:solidFill>
                  <a:srgbClr val="84E3F8"/>
                </a:solidFill>
                <a:latin typeface="Antique Olive"/>
                <a:ea typeface="Antique Olive"/>
                <a:cs typeface="Antique Olive"/>
                <a:sym typeface="Antique Olive"/>
              </a:rPr>
              <a:t>Next Steps &amp; Questions</a:t>
            </a:r>
          </a:p>
        </p:txBody>
      </p:sp>
      <p:sp>
        <p:nvSpPr>
          <p:cNvPr id="21" name="TextBox 21"/>
          <p:cNvSpPr txBox="1"/>
          <p:nvPr/>
        </p:nvSpPr>
        <p:spPr>
          <a:xfrm>
            <a:off x="1510978" y="2918667"/>
            <a:ext cx="4054416" cy="61595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000"/>
              </a:lnSpc>
              <a:spcBef>
                <a:spcPct val="0"/>
              </a:spcBef>
            </a:pPr>
            <a:r>
              <a:rPr lang="en-US" sz="4000">
                <a:solidFill>
                  <a:srgbClr val="FFFFFF"/>
                </a:solidFill>
                <a:latin typeface="Antique Olive"/>
                <a:ea typeface="Antique Olive"/>
                <a:cs typeface="Antique Olive"/>
                <a:sym typeface="Antique Olive"/>
              </a:rPr>
              <a:t>Done:</a:t>
            </a:r>
          </a:p>
        </p:txBody>
      </p:sp>
      <p:sp>
        <p:nvSpPr>
          <p:cNvPr id="22" name="TextBox 22"/>
          <p:cNvSpPr txBox="1"/>
          <p:nvPr/>
        </p:nvSpPr>
        <p:spPr>
          <a:xfrm>
            <a:off x="1219037" y="3968481"/>
            <a:ext cx="4712242" cy="98488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400"/>
              </a:lnSpc>
              <a:spcBef>
                <a:spcPct val="0"/>
              </a:spcBef>
            </a:pPr>
            <a:r>
              <a:rPr lang="en-US" sz="2400">
                <a:solidFill>
                  <a:srgbClr val="FFFFFF"/>
                </a:solidFill>
                <a:latin typeface="Antique Olive"/>
                <a:ea typeface="Antique Olive"/>
                <a:cs typeface="Antique Olive"/>
                <a:sym typeface="Antique Olive"/>
              </a:rPr>
              <a:t>Completed restaurant environment in Webots</a:t>
            </a:r>
          </a:p>
          <a:p>
            <a:pPr algn="ctr">
              <a:lnSpc>
                <a:spcPts val="2400"/>
              </a:lnSpc>
              <a:spcBef>
                <a:spcPct val="0"/>
              </a:spcBef>
            </a:pPr>
            <a:endParaRPr lang="en-US" sz="2400">
              <a:solidFill>
                <a:srgbClr val="FFFFFF"/>
              </a:solidFill>
              <a:latin typeface="Antique Olive"/>
              <a:ea typeface="Antique Olive"/>
              <a:cs typeface="Antique Olive"/>
              <a:sym typeface="Antique Olive"/>
            </a:endParaRPr>
          </a:p>
        </p:txBody>
      </p:sp>
      <p:sp>
        <p:nvSpPr>
          <p:cNvPr id="23" name="TextBox 23"/>
          <p:cNvSpPr txBox="1"/>
          <p:nvPr/>
        </p:nvSpPr>
        <p:spPr>
          <a:xfrm>
            <a:off x="1704119" y="5103967"/>
            <a:ext cx="3890220" cy="68008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400"/>
              </a:lnSpc>
              <a:spcBef>
                <a:spcPct val="0"/>
              </a:spcBef>
            </a:pPr>
            <a:r>
              <a:rPr lang="en-US" sz="2400">
                <a:solidFill>
                  <a:srgbClr val="FFFFFF"/>
                </a:solidFill>
                <a:latin typeface="Antique Olive"/>
                <a:ea typeface="Antique Olive"/>
                <a:cs typeface="Antique Olive"/>
                <a:sym typeface="Antique Olive"/>
              </a:rPr>
              <a:t>Request/call mechanism for the tables</a:t>
            </a:r>
          </a:p>
        </p:txBody>
      </p:sp>
      <p:sp>
        <p:nvSpPr>
          <p:cNvPr id="24" name="TextBox 24"/>
          <p:cNvSpPr txBox="1"/>
          <p:nvPr/>
        </p:nvSpPr>
        <p:spPr>
          <a:xfrm>
            <a:off x="1706952" y="6302736"/>
            <a:ext cx="4224328" cy="128968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400"/>
              </a:lnSpc>
              <a:spcBef>
                <a:spcPct val="0"/>
              </a:spcBef>
            </a:pPr>
            <a:r>
              <a:rPr lang="en-US" sz="2400">
                <a:solidFill>
                  <a:srgbClr val="FFFFFF"/>
                </a:solidFill>
                <a:latin typeface="Antique Olive"/>
                <a:ea typeface="Antique Olive"/>
                <a:cs typeface="Antique Olive"/>
                <a:sym typeface="Antique Olive"/>
              </a:rPr>
              <a:t>First version of the known-map navigation approach and of the unknown-map robot</a:t>
            </a:r>
          </a:p>
        </p:txBody>
      </p:sp>
      <p:sp>
        <p:nvSpPr>
          <p:cNvPr id="25" name="TextBox 25"/>
          <p:cNvSpPr txBox="1"/>
          <p:nvPr/>
        </p:nvSpPr>
        <p:spPr>
          <a:xfrm>
            <a:off x="7116792" y="2918667"/>
            <a:ext cx="4054416" cy="61595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000"/>
              </a:lnSpc>
              <a:spcBef>
                <a:spcPct val="0"/>
              </a:spcBef>
            </a:pPr>
            <a:r>
              <a:rPr lang="en-US" sz="4000">
                <a:solidFill>
                  <a:srgbClr val="FFFFFF"/>
                </a:solidFill>
                <a:latin typeface="Antique Olive"/>
                <a:ea typeface="Antique Olive"/>
                <a:cs typeface="Antique Olive"/>
                <a:sym typeface="Antique Olive"/>
              </a:rPr>
              <a:t>Questions:</a:t>
            </a:r>
          </a:p>
        </p:txBody>
      </p:sp>
      <p:sp>
        <p:nvSpPr>
          <p:cNvPr id="26" name="TextBox 26"/>
          <p:cNvSpPr txBox="1"/>
          <p:nvPr/>
        </p:nvSpPr>
        <p:spPr>
          <a:xfrm>
            <a:off x="12915726" y="2918667"/>
            <a:ext cx="4054416" cy="61595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000"/>
              </a:lnSpc>
              <a:spcBef>
                <a:spcPct val="0"/>
              </a:spcBef>
            </a:pPr>
            <a:r>
              <a:rPr lang="en-US" sz="4000">
                <a:solidFill>
                  <a:srgbClr val="FFFFFF"/>
                </a:solidFill>
                <a:latin typeface="Antique Olive"/>
                <a:ea typeface="Antique Olive"/>
                <a:cs typeface="Antique Olive"/>
                <a:sym typeface="Antique Olive"/>
              </a:rPr>
              <a:t>Next:</a:t>
            </a:r>
          </a:p>
        </p:txBody>
      </p:sp>
      <p:sp>
        <p:nvSpPr>
          <p:cNvPr id="27" name="TextBox 27"/>
          <p:cNvSpPr txBox="1"/>
          <p:nvPr/>
        </p:nvSpPr>
        <p:spPr>
          <a:xfrm>
            <a:off x="12429989" y="4120881"/>
            <a:ext cx="4712242" cy="68008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518163" lvl="1" indent="-259082" algn="l">
              <a:lnSpc>
                <a:spcPts val="2400"/>
              </a:lnSpc>
              <a:spcBef>
                <a:spcPct val="0"/>
              </a:spcBef>
              <a:buFont typeface="Arial"/>
              <a:buChar char="•"/>
            </a:pPr>
            <a:r>
              <a:rPr lang="en-US" sz="2400">
                <a:solidFill>
                  <a:srgbClr val="FFFFFF"/>
                </a:solidFill>
                <a:latin typeface="Antique Olive"/>
                <a:ea typeface="Antique Olive"/>
                <a:cs typeface="Antique Olive"/>
                <a:sym typeface="Antique Olive"/>
              </a:rPr>
              <a:t>Compare EXP1 vs EXP2 in multiple runs</a:t>
            </a:r>
          </a:p>
        </p:txBody>
      </p:sp>
      <p:sp>
        <p:nvSpPr>
          <p:cNvPr id="28" name="TextBox 28"/>
          <p:cNvSpPr txBox="1"/>
          <p:nvPr/>
        </p:nvSpPr>
        <p:spPr>
          <a:xfrm>
            <a:off x="12429989" y="5103967"/>
            <a:ext cx="4981019" cy="37528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518163" lvl="1" indent="-259082" algn="l">
              <a:lnSpc>
                <a:spcPts val="2400"/>
              </a:lnSpc>
              <a:spcBef>
                <a:spcPct val="0"/>
              </a:spcBef>
              <a:buFont typeface="Arial"/>
              <a:buChar char="•"/>
            </a:pPr>
            <a:r>
              <a:rPr lang="en-US" sz="2400">
                <a:solidFill>
                  <a:srgbClr val="FFFFFF"/>
                </a:solidFill>
                <a:latin typeface="Antique Olive"/>
                <a:ea typeface="Antique Olive"/>
                <a:cs typeface="Antique Olive"/>
                <a:sym typeface="Antique Olive"/>
              </a:rPr>
              <a:t>Introduce dynamic obstacles</a:t>
            </a:r>
          </a:p>
        </p:txBody>
      </p:sp>
      <p:sp>
        <p:nvSpPr>
          <p:cNvPr id="29" name="TextBox 29"/>
          <p:cNvSpPr txBox="1"/>
          <p:nvPr/>
        </p:nvSpPr>
        <p:spPr>
          <a:xfrm>
            <a:off x="12429989" y="5774527"/>
            <a:ext cx="4981019" cy="159448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518163" lvl="1" indent="-259082" algn="l">
              <a:lnSpc>
                <a:spcPts val="2400"/>
              </a:lnSpc>
              <a:spcBef>
                <a:spcPct val="0"/>
              </a:spcBef>
              <a:buFont typeface="Arial"/>
              <a:buChar char="•"/>
            </a:pPr>
            <a:r>
              <a:rPr lang="en-US" sz="2400">
                <a:solidFill>
                  <a:srgbClr val="FFFFFF"/>
                </a:solidFill>
                <a:latin typeface="Antique Olive"/>
                <a:ea typeface="Antique Olive"/>
                <a:cs typeface="Antique Olive"/>
                <a:sym typeface="Antique Olive"/>
              </a:rPr>
              <a:t>Do EXP 3 Dynamic Environment with Known Map and EXP 4 Dynamic Environment with Unknown Map</a:t>
            </a:r>
          </a:p>
        </p:txBody>
      </p:sp>
      <p:sp>
        <p:nvSpPr>
          <p:cNvPr id="30" name="TextBox 30"/>
          <p:cNvSpPr txBox="1"/>
          <p:nvPr/>
        </p:nvSpPr>
        <p:spPr>
          <a:xfrm>
            <a:off x="12429989" y="7665072"/>
            <a:ext cx="4981019" cy="68008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518163" lvl="1" indent="-259082" algn="l">
              <a:lnSpc>
                <a:spcPts val="2400"/>
              </a:lnSpc>
              <a:spcBef>
                <a:spcPct val="0"/>
              </a:spcBef>
              <a:buFont typeface="Arial"/>
              <a:buChar char="•"/>
            </a:pPr>
            <a:r>
              <a:rPr lang="en-US" sz="2400">
                <a:solidFill>
                  <a:srgbClr val="FFFFFF"/>
                </a:solidFill>
                <a:latin typeface="Antique Olive"/>
                <a:ea typeface="Antique Olive"/>
                <a:cs typeface="Antique Olive"/>
                <a:sym typeface="Antique Olive"/>
              </a:rPr>
              <a:t>Calculate new metrics and produce final videos</a:t>
            </a:r>
          </a:p>
        </p:txBody>
      </p:sp>
      <p:sp>
        <p:nvSpPr>
          <p:cNvPr id="31" name="TextBox 31"/>
          <p:cNvSpPr txBox="1"/>
          <p:nvPr/>
        </p:nvSpPr>
        <p:spPr>
          <a:xfrm>
            <a:off x="1669495" y="7817472"/>
            <a:ext cx="3393075" cy="37528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400"/>
              </a:lnSpc>
              <a:spcBef>
                <a:spcPct val="0"/>
              </a:spcBef>
            </a:pPr>
            <a:r>
              <a:rPr lang="en-US" sz="2400">
                <a:solidFill>
                  <a:srgbClr val="FFFFFF"/>
                </a:solidFill>
                <a:latin typeface="Antique Olive"/>
                <a:ea typeface="Antique Olive"/>
                <a:cs typeface="Antique Olive"/>
                <a:sym typeface="Antique Olive"/>
              </a:rPr>
              <a:t>Performance metrics</a:t>
            </a:r>
          </a:p>
        </p:txBody>
      </p:sp>
      <p:sp>
        <p:nvSpPr>
          <p:cNvPr id="32" name="TextBox 32"/>
          <p:cNvSpPr txBox="1"/>
          <p:nvPr/>
        </p:nvSpPr>
        <p:spPr>
          <a:xfrm>
            <a:off x="6787879" y="4120881"/>
            <a:ext cx="4712242" cy="98488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400"/>
              </a:lnSpc>
              <a:spcBef>
                <a:spcPct val="0"/>
              </a:spcBef>
            </a:pPr>
            <a:r>
              <a:rPr lang="en-US" sz="2400">
                <a:solidFill>
                  <a:srgbClr val="FFFFFF"/>
                </a:solidFill>
                <a:latin typeface="Antique Olive"/>
                <a:ea typeface="Antique Olive"/>
                <a:cs typeface="Antique Olive"/>
                <a:sym typeface="Antique Olive"/>
              </a:rPr>
              <a:t>Service policy should change from FIFO to Nearest-first?</a:t>
            </a:r>
          </a:p>
          <a:p>
            <a:pPr algn="ctr">
              <a:lnSpc>
                <a:spcPts val="2400"/>
              </a:lnSpc>
              <a:spcBef>
                <a:spcPct val="0"/>
              </a:spcBef>
            </a:pPr>
            <a:endParaRPr lang="en-US" sz="2400">
              <a:solidFill>
                <a:srgbClr val="FFFFFF"/>
              </a:solidFill>
              <a:latin typeface="Antique Olive"/>
              <a:ea typeface="Antique Olive"/>
              <a:cs typeface="Antique Olive"/>
              <a:sym typeface="Antique Olive"/>
            </a:endParaRPr>
          </a:p>
        </p:txBody>
      </p:sp>
      <p:sp>
        <p:nvSpPr>
          <p:cNvPr id="33" name="TextBox 33"/>
          <p:cNvSpPr txBox="1"/>
          <p:nvPr/>
        </p:nvSpPr>
        <p:spPr>
          <a:xfrm>
            <a:off x="6787879" y="5096242"/>
            <a:ext cx="4712242" cy="98488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400"/>
              </a:lnSpc>
              <a:spcBef>
                <a:spcPct val="0"/>
              </a:spcBef>
            </a:pPr>
            <a:r>
              <a:rPr lang="en-US" sz="2400">
                <a:solidFill>
                  <a:srgbClr val="FFFFFF"/>
                </a:solidFill>
                <a:latin typeface="Antique Olive"/>
                <a:ea typeface="Antique Olive"/>
                <a:cs typeface="Antique Olive"/>
                <a:sym typeface="Antique Olive"/>
              </a:rPr>
              <a:t>Apply a new heuristic when, in experiment 2, the robot does not know the A* path?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30</TotalTime>
  <Words>312</Words>
  <Application>Microsoft Office PowerPoint</Application>
  <PresentationFormat>Personalizados</PresentationFormat>
  <Paragraphs>58</Paragraphs>
  <Slides>9</Slides>
  <Notes>1</Notes>
  <HiddenSlides>0</HiddenSlides>
  <MMClips>1</MMClips>
  <ScaleCrop>false</ScaleCrop>
  <HeadingPairs>
    <vt:vector size="6" baseType="variant">
      <vt:variant>
        <vt:lpstr>Tipos de letra usados</vt:lpstr>
      </vt:variant>
      <vt:variant>
        <vt:i4>4</vt:i4>
      </vt:variant>
      <vt:variant>
        <vt:lpstr>Tema</vt:lpstr>
      </vt:variant>
      <vt:variant>
        <vt:i4>1</vt:i4>
      </vt:variant>
      <vt:variant>
        <vt:lpstr>Títulos dos diapositivos</vt:lpstr>
      </vt:variant>
      <vt:variant>
        <vt:i4>9</vt:i4>
      </vt:variant>
    </vt:vector>
  </HeadingPairs>
  <TitlesOfParts>
    <vt:vector size="14" baseType="lpstr">
      <vt:lpstr>Arial</vt:lpstr>
      <vt:lpstr>Aptos</vt:lpstr>
      <vt:lpstr>Antique Olive</vt:lpstr>
      <vt:lpstr>Calibri</vt:lpstr>
      <vt:lpstr>Office Theme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Blue and White Modern Artificial Intelligence Presentation</dc:title>
  <dc:creator>Leonor Baía</dc:creator>
  <cp:lastModifiedBy>Cláudia Rodrigues Fernandes</cp:lastModifiedBy>
  <cp:revision>4</cp:revision>
  <dcterms:created xsi:type="dcterms:W3CDTF">2006-08-16T00:00:00Z</dcterms:created>
  <dcterms:modified xsi:type="dcterms:W3CDTF">2026-05-12T23:08:18Z</dcterms:modified>
  <dc:identifier>DAHJcWIDfc4</dc:identifier>
</cp:coreProperties>
</file>
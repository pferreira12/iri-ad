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ntique Oliv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7ACA3-7E94-4C5D-BE8A-265C7DD50BE0}" type="datetimeFigureOut">
              <a:rPr lang="pt-PT" smtClean="0"/>
              <a:t>12/05/2026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C3AE8-2D35-47EC-8527-6014DF8AB4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483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C3AE8-2D35-47EC-8527-6014DF8AB4ED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367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2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2148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59659" y="-27352"/>
            <a:ext cx="11376719" cy="11376719"/>
          </a:xfrm>
          <a:custGeom>
            <a:avLst/>
            <a:gdLst/>
            <a:ahLst/>
            <a:cxnLst/>
            <a:rect l="l" t="t" r="r" b="b"/>
            <a:pathLst>
              <a:path w="11376719" h="11376719">
                <a:moveTo>
                  <a:pt x="0" y="0"/>
                </a:moveTo>
                <a:lnTo>
                  <a:pt x="11376718" y="0"/>
                </a:lnTo>
                <a:lnTo>
                  <a:pt x="11376718" y="11376719"/>
                </a:lnTo>
                <a:lnTo>
                  <a:pt x="0" y="11376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-4385996" y="992235"/>
            <a:ext cx="14760053" cy="8302530"/>
          </a:xfrm>
          <a:custGeom>
            <a:avLst/>
            <a:gdLst/>
            <a:ahLst/>
            <a:cxnLst/>
            <a:rect l="l" t="t" r="r" b="b"/>
            <a:pathLst>
              <a:path w="14760053" h="8302530">
                <a:moveTo>
                  <a:pt x="0" y="0"/>
                </a:moveTo>
                <a:lnTo>
                  <a:pt x="14760053" y="0"/>
                </a:lnTo>
                <a:lnTo>
                  <a:pt x="14760053" y="8302530"/>
                </a:lnTo>
                <a:lnTo>
                  <a:pt x="0" y="8302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59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7363912" y="1504950"/>
            <a:ext cx="10542241" cy="306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3"/>
              </a:lnSpc>
            </a:pPr>
            <a:r>
              <a:rPr lang="en-US" sz="4878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Comparative Evaluation of</a:t>
            </a:r>
          </a:p>
          <a:p>
            <a:pPr algn="ctr">
              <a:lnSpc>
                <a:spcPts val="5853"/>
              </a:lnSpc>
            </a:pPr>
            <a:r>
              <a:rPr lang="en-US" sz="4878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Autonomous Service Robot          in Restaurant Environments</a:t>
            </a:r>
          </a:p>
          <a:p>
            <a:pPr algn="r">
              <a:lnSpc>
                <a:spcPts val="5853"/>
              </a:lnSpc>
            </a:pPr>
            <a:endParaRPr lang="en-US" sz="4878">
              <a:solidFill>
                <a:srgbClr val="84E3F8"/>
              </a:solidFill>
              <a:latin typeface="Antique Olive"/>
              <a:ea typeface="Antique Olive"/>
              <a:cs typeface="Antique Olive"/>
              <a:sym typeface="Antique Olive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918043" y="4302249"/>
            <a:ext cx="565098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9572030" y="5342008"/>
            <a:ext cx="6734770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9"/>
              </a:lnSpc>
              <a:spcBef>
                <a:spcPct val="0"/>
              </a:spcBef>
            </a:pPr>
            <a:r>
              <a:rPr lang="en-US" sz="2059" dirty="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Catarina Fernandes  · Leonor Baía  · Pedro Ferreira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51286" y="4719138"/>
            <a:ext cx="7636002" cy="42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sz="2437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Introduction to Intelligent Robotics · Checkpoint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2148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13909" y="6006375"/>
            <a:ext cx="5948182" cy="5948182"/>
          </a:xfrm>
          <a:custGeom>
            <a:avLst/>
            <a:gdLst/>
            <a:ahLst/>
            <a:cxnLst/>
            <a:rect l="l" t="t" r="r" b="b"/>
            <a:pathLst>
              <a:path w="5948182" h="5948182">
                <a:moveTo>
                  <a:pt x="0" y="0"/>
                </a:moveTo>
                <a:lnTo>
                  <a:pt x="5948182" y="0"/>
                </a:lnTo>
                <a:lnTo>
                  <a:pt x="5948182" y="5948182"/>
                </a:lnTo>
                <a:lnTo>
                  <a:pt x="0" y="5948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1210647">
            <a:off x="-3713134" y="-1249856"/>
            <a:ext cx="4692353" cy="4692353"/>
          </a:xfrm>
          <a:custGeom>
            <a:avLst/>
            <a:gdLst/>
            <a:ahLst/>
            <a:cxnLst/>
            <a:rect l="l" t="t" r="r" b="b"/>
            <a:pathLst>
              <a:path w="4692353" h="4692353">
                <a:moveTo>
                  <a:pt x="0" y="0"/>
                </a:moveTo>
                <a:lnTo>
                  <a:pt x="4692353" y="0"/>
                </a:lnTo>
                <a:lnTo>
                  <a:pt x="4692353" y="4692353"/>
                </a:lnTo>
                <a:lnTo>
                  <a:pt x="0" y="4692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605092" y="3148756"/>
            <a:ext cx="3836056" cy="5200243"/>
          </a:xfrm>
          <a:custGeom>
            <a:avLst/>
            <a:gdLst/>
            <a:ahLst/>
            <a:cxnLst/>
            <a:rect l="l" t="t" r="r" b="b"/>
            <a:pathLst>
              <a:path w="3836056" h="5200243">
                <a:moveTo>
                  <a:pt x="0" y="0"/>
                </a:moveTo>
                <a:lnTo>
                  <a:pt x="3836056" y="0"/>
                </a:lnTo>
                <a:lnTo>
                  <a:pt x="3836056" y="5200243"/>
                </a:lnTo>
                <a:lnTo>
                  <a:pt x="0" y="5200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05" r="-7260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4964102" y="3148756"/>
            <a:ext cx="3836056" cy="5200243"/>
          </a:xfrm>
          <a:custGeom>
            <a:avLst/>
            <a:gdLst/>
            <a:ahLst/>
            <a:cxnLst/>
            <a:rect l="l" t="t" r="r" b="b"/>
            <a:pathLst>
              <a:path w="3836056" h="5200243">
                <a:moveTo>
                  <a:pt x="0" y="0"/>
                </a:moveTo>
                <a:lnTo>
                  <a:pt x="3836056" y="0"/>
                </a:lnTo>
                <a:lnTo>
                  <a:pt x="3836056" y="5200243"/>
                </a:lnTo>
                <a:lnTo>
                  <a:pt x="0" y="5200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05" r="-7260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9324033" y="3148756"/>
            <a:ext cx="3836056" cy="5200243"/>
          </a:xfrm>
          <a:custGeom>
            <a:avLst/>
            <a:gdLst/>
            <a:ahLst/>
            <a:cxnLst/>
            <a:rect l="l" t="t" r="r" b="b"/>
            <a:pathLst>
              <a:path w="3836056" h="5200243">
                <a:moveTo>
                  <a:pt x="0" y="0"/>
                </a:moveTo>
                <a:lnTo>
                  <a:pt x="3836056" y="0"/>
                </a:lnTo>
                <a:lnTo>
                  <a:pt x="3836056" y="5200243"/>
                </a:lnTo>
                <a:lnTo>
                  <a:pt x="0" y="5200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05" r="-7260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3683964" y="3148756"/>
            <a:ext cx="3836056" cy="5200243"/>
          </a:xfrm>
          <a:custGeom>
            <a:avLst/>
            <a:gdLst/>
            <a:ahLst/>
            <a:cxnLst/>
            <a:rect l="l" t="t" r="r" b="b"/>
            <a:pathLst>
              <a:path w="3836056" h="5200243">
                <a:moveTo>
                  <a:pt x="0" y="0"/>
                </a:moveTo>
                <a:lnTo>
                  <a:pt x="3836056" y="0"/>
                </a:lnTo>
                <a:lnTo>
                  <a:pt x="3836056" y="5200243"/>
                </a:lnTo>
                <a:lnTo>
                  <a:pt x="0" y="5200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05" r="-7260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13902003" y="5086350"/>
            <a:ext cx="3498615" cy="272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Receive table request</a:t>
            </a:r>
          </a:p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  </a:t>
            </a:r>
          </a:p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navigate to table</a:t>
            </a:r>
          </a:p>
          <a:p>
            <a:pPr algn="ctr">
              <a:lnSpc>
                <a:spcPts val="3012"/>
              </a:lnSpc>
              <a:spcBef>
                <a:spcPct val="0"/>
              </a:spcBef>
            </a:pPr>
            <a:endParaRPr lang="en-US" sz="2510">
              <a:gradFill>
                <a:gsLst>
                  <a:gs pos="0">
                    <a:srgbClr val="131F40">
                      <a:alpha val="100000"/>
                    </a:srgbClr>
                  </a:gs>
                  <a:gs pos="100000">
                    <a:srgbClr val="214859">
                      <a:alpha val="100000"/>
                    </a:srgbClr>
                  </a:gs>
                </a:gsLst>
                <a:lin ang="0"/>
              </a:gradFill>
              <a:latin typeface="Antique Olive"/>
              <a:ea typeface="Antique Olive"/>
              <a:cs typeface="Antique Olive"/>
              <a:sym typeface="Antique Olive"/>
            </a:endParaRPr>
          </a:p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serve (2s)</a:t>
            </a:r>
          </a:p>
          <a:p>
            <a:pPr algn="ctr">
              <a:lnSpc>
                <a:spcPts val="3012"/>
              </a:lnSpc>
              <a:spcBef>
                <a:spcPct val="0"/>
              </a:spcBef>
            </a:pPr>
            <a:endParaRPr lang="en-US" sz="2510">
              <a:gradFill>
                <a:gsLst>
                  <a:gs pos="0">
                    <a:srgbClr val="131F40">
                      <a:alpha val="100000"/>
                    </a:srgbClr>
                  </a:gs>
                  <a:gs pos="100000">
                    <a:srgbClr val="214859">
                      <a:alpha val="100000"/>
                    </a:srgbClr>
                  </a:gs>
                </a:gsLst>
                <a:lin ang="0"/>
              </a:gradFill>
              <a:latin typeface="Antique Olive"/>
              <a:ea typeface="Antique Olive"/>
              <a:cs typeface="Antique Olive"/>
              <a:sym typeface="Antique Olive"/>
            </a:endParaRPr>
          </a:p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return to base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5563892" y="5474065"/>
            <a:ext cx="0" cy="431435"/>
          </a:xfrm>
          <a:prstGeom prst="line">
            <a:avLst/>
          </a:prstGeom>
          <a:ln w="38100" cap="flat">
            <a:solidFill>
              <a:srgbClr val="57A2C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PT"/>
          </a:p>
        </p:txBody>
      </p:sp>
      <p:sp>
        <p:nvSpPr>
          <p:cNvPr id="10" name="AutoShape 10"/>
          <p:cNvSpPr/>
          <p:nvPr/>
        </p:nvSpPr>
        <p:spPr>
          <a:xfrm flipH="1">
            <a:off x="15563892" y="6261283"/>
            <a:ext cx="0" cy="431435"/>
          </a:xfrm>
          <a:prstGeom prst="line">
            <a:avLst/>
          </a:prstGeom>
          <a:ln w="38100" cap="flat">
            <a:solidFill>
              <a:srgbClr val="57A2C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PT"/>
          </a:p>
        </p:txBody>
      </p:sp>
      <p:sp>
        <p:nvSpPr>
          <p:cNvPr id="11" name="AutoShape 11"/>
          <p:cNvSpPr/>
          <p:nvPr/>
        </p:nvSpPr>
        <p:spPr>
          <a:xfrm flipH="1">
            <a:off x="15549783" y="6995869"/>
            <a:ext cx="0" cy="431435"/>
          </a:xfrm>
          <a:prstGeom prst="line">
            <a:avLst/>
          </a:prstGeom>
          <a:ln w="38100" cap="flat">
            <a:solidFill>
              <a:srgbClr val="57A2C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>
            <a:off x="2023033" y="3346552"/>
            <a:ext cx="1000174" cy="1001996"/>
          </a:xfrm>
          <a:custGeom>
            <a:avLst/>
            <a:gdLst/>
            <a:ahLst/>
            <a:cxnLst/>
            <a:rect l="l" t="t" r="r" b="b"/>
            <a:pathLst>
              <a:path w="1000174" h="1001996">
                <a:moveTo>
                  <a:pt x="0" y="0"/>
                </a:moveTo>
                <a:lnTo>
                  <a:pt x="1000174" y="0"/>
                </a:lnTo>
                <a:lnTo>
                  <a:pt x="1000174" y="1001995"/>
                </a:lnTo>
                <a:lnTo>
                  <a:pt x="0" y="1001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>
            <a:off x="6404034" y="3389530"/>
            <a:ext cx="956193" cy="959018"/>
          </a:xfrm>
          <a:custGeom>
            <a:avLst/>
            <a:gdLst/>
            <a:ahLst/>
            <a:cxnLst/>
            <a:rect l="l" t="t" r="r" b="b"/>
            <a:pathLst>
              <a:path w="956193" h="959018">
                <a:moveTo>
                  <a:pt x="0" y="0"/>
                </a:moveTo>
                <a:lnTo>
                  <a:pt x="956193" y="0"/>
                </a:lnTo>
                <a:lnTo>
                  <a:pt x="956193" y="959017"/>
                </a:lnTo>
                <a:lnTo>
                  <a:pt x="0" y="9590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2752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>
            <a:off x="10704277" y="3294705"/>
            <a:ext cx="1075569" cy="1148666"/>
          </a:xfrm>
          <a:custGeom>
            <a:avLst/>
            <a:gdLst/>
            <a:ahLst/>
            <a:cxnLst/>
            <a:rect l="l" t="t" r="r" b="b"/>
            <a:pathLst>
              <a:path w="1075569" h="1148666">
                <a:moveTo>
                  <a:pt x="0" y="0"/>
                </a:moveTo>
                <a:lnTo>
                  <a:pt x="1075569" y="0"/>
                </a:lnTo>
                <a:lnTo>
                  <a:pt x="1075569" y="1148666"/>
                </a:lnTo>
                <a:lnTo>
                  <a:pt x="0" y="1148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/>
          <p:cNvSpPr/>
          <p:nvPr/>
        </p:nvSpPr>
        <p:spPr>
          <a:xfrm>
            <a:off x="15298272" y="3389530"/>
            <a:ext cx="706077" cy="959018"/>
          </a:xfrm>
          <a:custGeom>
            <a:avLst/>
            <a:gdLst/>
            <a:ahLst/>
            <a:cxnLst/>
            <a:rect l="l" t="t" r="r" b="b"/>
            <a:pathLst>
              <a:path w="706077" h="959018">
                <a:moveTo>
                  <a:pt x="0" y="0"/>
                </a:moveTo>
                <a:lnTo>
                  <a:pt x="706077" y="0"/>
                </a:lnTo>
                <a:lnTo>
                  <a:pt x="706077" y="959017"/>
                </a:lnTo>
                <a:lnTo>
                  <a:pt x="0" y="959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/>
          <p:cNvSpPr txBox="1"/>
          <p:nvPr/>
        </p:nvSpPr>
        <p:spPr>
          <a:xfrm>
            <a:off x="6133158" y="561975"/>
            <a:ext cx="53340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3"/>
              </a:lnSpc>
              <a:spcBef>
                <a:spcPct val="0"/>
              </a:spcBef>
            </a:pPr>
            <a:r>
              <a:rPr lang="en-US" sz="4878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Project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7097" y="5086350"/>
            <a:ext cx="4092047" cy="234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4"/>
              </a:lnSpc>
              <a:spcBef>
                <a:spcPct val="0"/>
              </a:spcBef>
            </a:pPr>
            <a:r>
              <a:rPr lang="en-US" sz="2511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Study how environmental knowledge affects performance of autonomous waiter robots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3473" y="5086350"/>
            <a:ext cx="348623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e-puck robot with LiDAR sensor + wheel encoders in Webots simulation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7469" y="5086350"/>
            <a:ext cx="3748259" cy="272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1"/>
              </a:lnSpc>
              <a:spcBef>
                <a:spcPct val="0"/>
              </a:spcBef>
            </a:pPr>
            <a:r>
              <a:rPr lang="en-US" sz="2509">
                <a:gradFill>
                  <a:gsLst>
                    <a:gs pos="0">
                      <a:srgbClr val="131F40">
                        <a:alpha val="100000"/>
                      </a:srgbClr>
                    </a:gs>
                    <a:gs pos="100000">
                      <a:srgbClr val="214859">
                        <a:alpha val="100000"/>
                      </a:srgbClr>
                    </a:gs>
                  </a:gsLst>
                  <a:lin ang="0"/>
                </a:gradFill>
                <a:latin typeface="Antique Olive"/>
                <a:ea typeface="Antique Olive"/>
                <a:cs typeface="Antique Olive"/>
                <a:sym typeface="Antique Olive"/>
              </a:rPr>
              <a:t>Restaurant with 6 tables, 4 chairs each table, 4 walls, 4 corner plants and robot’s base — modelled in Blender, exported to Webots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84707" y="4498374"/>
            <a:ext cx="810893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 dirty="0">
                <a:solidFill>
                  <a:srgbClr val="000000"/>
                </a:solidFill>
                <a:latin typeface="Antique Olive"/>
                <a:ea typeface="Antique Olive"/>
                <a:cs typeface="Antique Olive"/>
                <a:sym typeface="Antique Olive"/>
              </a:rPr>
              <a:t>Goal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3828" y="4498374"/>
            <a:ext cx="144617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 dirty="0">
                <a:solidFill>
                  <a:srgbClr val="000000"/>
                </a:solidFill>
                <a:latin typeface="Antique Olive"/>
                <a:ea typeface="Antique Olive"/>
                <a:cs typeface="Antique Olive"/>
                <a:sym typeface="Antique Olive"/>
              </a:rPr>
              <a:t>Platform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88418" y="4498374"/>
            <a:ext cx="215598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 dirty="0">
                <a:solidFill>
                  <a:srgbClr val="000000"/>
                </a:solidFill>
                <a:latin typeface="Antique Olive"/>
                <a:ea typeface="Antique Olive"/>
                <a:cs typeface="Antique Olive"/>
                <a:sym typeface="Antique Olive"/>
              </a:rPr>
              <a:t>Environment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98272" y="4498374"/>
            <a:ext cx="706076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 dirty="0">
                <a:solidFill>
                  <a:srgbClr val="000000"/>
                </a:solidFill>
                <a:latin typeface="Antique Olive"/>
                <a:ea typeface="Antique Olive"/>
                <a:cs typeface="Antique Olive"/>
                <a:sym typeface="Antique Olive"/>
              </a:rPr>
              <a:t>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859">
                <a:alpha val="100000"/>
              </a:srgbClr>
            </a:gs>
            <a:gs pos="100000">
              <a:srgbClr val="131F4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74848" y="1496930"/>
            <a:ext cx="7293141" cy="7293141"/>
          </a:xfrm>
          <a:custGeom>
            <a:avLst/>
            <a:gdLst/>
            <a:ahLst/>
            <a:cxnLst/>
            <a:rect l="l" t="t" r="r" b="b"/>
            <a:pathLst>
              <a:path w="7293141" h="7293141">
                <a:moveTo>
                  <a:pt x="0" y="0"/>
                </a:moveTo>
                <a:lnTo>
                  <a:pt x="7293141" y="0"/>
                </a:lnTo>
                <a:lnTo>
                  <a:pt x="7293141" y="7293140"/>
                </a:lnTo>
                <a:lnTo>
                  <a:pt x="0" y="729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627160" y="397708"/>
            <a:ext cx="1534151" cy="1548226"/>
          </a:xfrm>
          <a:custGeom>
            <a:avLst/>
            <a:gdLst/>
            <a:ahLst/>
            <a:cxnLst/>
            <a:rect l="l" t="t" r="r" b="b"/>
            <a:pathLst>
              <a:path w="1534151" h="1548226">
                <a:moveTo>
                  <a:pt x="0" y="0"/>
                </a:moveTo>
                <a:lnTo>
                  <a:pt x="1534151" y="0"/>
                </a:lnTo>
                <a:lnTo>
                  <a:pt x="1534151" y="1548226"/>
                </a:lnTo>
                <a:lnTo>
                  <a:pt x="0" y="1548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252981">
            <a:off x="-16788" y="3442691"/>
            <a:ext cx="11322772" cy="6201766"/>
          </a:xfrm>
          <a:custGeom>
            <a:avLst/>
            <a:gdLst/>
            <a:ahLst/>
            <a:cxnLst/>
            <a:rect l="l" t="t" r="r" b="b"/>
            <a:pathLst>
              <a:path w="11322772" h="6201766">
                <a:moveTo>
                  <a:pt x="0" y="0"/>
                </a:moveTo>
                <a:lnTo>
                  <a:pt x="11322773" y="0"/>
                </a:lnTo>
                <a:lnTo>
                  <a:pt x="11322773" y="6201766"/>
                </a:lnTo>
                <a:lnTo>
                  <a:pt x="0" y="6201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48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295555">
            <a:off x="10949384" y="1171821"/>
            <a:ext cx="4943336" cy="3726040"/>
          </a:xfrm>
          <a:custGeom>
            <a:avLst/>
            <a:gdLst/>
            <a:ahLst/>
            <a:cxnLst/>
            <a:rect l="l" t="t" r="r" b="b"/>
            <a:pathLst>
              <a:path w="4943336" h="3726040">
                <a:moveTo>
                  <a:pt x="0" y="0"/>
                </a:moveTo>
                <a:lnTo>
                  <a:pt x="4943337" y="0"/>
                </a:lnTo>
                <a:lnTo>
                  <a:pt x="4943337" y="3726040"/>
                </a:lnTo>
                <a:lnTo>
                  <a:pt x="0" y="3726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238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 rot="611581">
            <a:off x="12783830" y="5668206"/>
            <a:ext cx="4043694" cy="3079202"/>
          </a:xfrm>
          <a:custGeom>
            <a:avLst/>
            <a:gdLst/>
            <a:ahLst/>
            <a:cxnLst/>
            <a:rect l="l" t="t" r="r" b="b"/>
            <a:pathLst>
              <a:path w="4043694" h="3079202">
                <a:moveTo>
                  <a:pt x="0" y="0"/>
                </a:moveTo>
                <a:lnTo>
                  <a:pt x="4043694" y="0"/>
                </a:lnTo>
                <a:lnTo>
                  <a:pt x="4043694" y="3079203"/>
                </a:lnTo>
                <a:lnTo>
                  <a:pt x="0" y="3079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770" r="-40344" b="-13821"/>
            </a:stretch>
          </a:blipFill>
          <a:ln w="12382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181668" y="731754"/>
            <a:ext cx="9805959" cy="76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Simulation Enviroment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2148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67004" y="3480137"/>
            <a:ext cx="4785933" cy="9926804"/>
          </a:xfrm>
          <a:custGeom>
            <a:avLst/>
            <a:gdLst/>
            <a:ahLst/>
            <a:cxnLst/>
            <a:rect l="l" t="t" r="r" b="b"/>
            <a:pathLst>
              <a:path w="4785933" h="9926804">
                <a:moveTo>
                  <a:pt x="4785933" y="0"/>
                </a:moveTo>
                <a:lnTo>
                  <a:pt x="0" y="0"/>
                </a:lnTo>
                <a:lnTo>
                  <a:pt x="0" y="9926804"/>
                </a:lnTo>
                <a:lnTo>
                  <a:pt x="4785933" y="9926804"/>
                </a:lnTo>
                <a:lnTo>
                  <a:pt x="478593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flipH="1">
            <a:off x="12870656" y="1028700"/>
            <a:ext cx="5607724" cy="5607724"/>
          </a:xfrm>
          <a:custGeom>
            <a:avLst/>
            <a:gdLst/>
            <a:ahLst/>
            <a:cxnLst/>
            <a:rect l="l" t="t" r="r" b="b"/>
            <a:pathLst>
              <a:path w="5607724" h="5607724">
                <a:moveTo>
                  <a:pt x="5607724" y="0"/>
                </a:moveTo>
                <a:lnTo>
                  <a:pt x="0" y="0"/>
                </a:lnTo>
                <a:lnTo>
                  <a:pt x="0" y="5607724"/>
                </a:lnTo>
                <a:lnTo>
                  <a:pt x="5607724" y="5607724"/>
                </a:lnTo>
                <a:lnTo>
                  <a:pt x="560772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535176" y="409166"/>
            <a:ext cx="1534273" cy="1554052"/>
          </a:xfrm>
          <a:custGeom>
            <a:avLst/>
            <a:gdLst/>
            <a:ahLst/>
            <a:cxnLst/>
            <a:rect l="l" t="t" r="r" b="b"/>
            <a:pathLst>
              <a:path w="1534273" h="1554052">
                <a:moveTo>
                  <a:pt x="0" y="0"/>
                </a:moveTo>
                <a:lnTo>
                  <a:pt x="1534273" y="0"/>
                </a:lnTo>
                <a:lnTo>
                  <a:pt x="1534273" y="1554052"/>
                </a:lnTo>
                <a:lnTo>
                  <a:pt x="0" y="1554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2481893" y="450210"/>
            <a:ext cx="9657703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Table request system &amp; target identification logic</a:t>
            </a:r>
          </a:p>
        </p:txBody>
      </p:sp>
      <p:sp>
        <p:nvSpPr>
          <p:cNvPr id="6" name="Freeform 6"/>
          <p:cNvSpPr/>
          <p:nvPr/>
        </p:nvSpPr>
        <p:spPr>
          <a:xfrm>
            <a:off x="2069449" y="2294885"/>
            <a:ext cx="8232535" cy="7448728"/>
          </a:xfrm>
          <a:custGeom>
            <a:avLst/>
            <a:gdLst/>
            <a:ahLst/>
            <a:cxnLst/>
            <a:rect l="l" t="t" r="r" b="b"/>
            <a:pathLst>
              <a:path w="8232535" h="7448728">
                <a:moveTo>
                  <a:pt x="0" y="0"/>
                </a:moveTo>
                <a:lnTo>
                  <a:pt x="8232535" y="0"/>
                </a:lnTo>
                <a:lnTo>
                  <a:pt x="8232535" y="7448728"/>
                </a:lnTo>
                <a:lnTo>
                  <a:pt x="0" y="7448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690" b="-25413"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859">
                <a:alpha val="100000"/>
              </a:srgbClr>
            </a:gs>
            <a:gs pos="100000">
              <a:srgbClr val="131F4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12838" y="0"/>
            <a:ext cx="8747250" cy="10287000"/>
            <a:chOff x="0" y="0"/>
            <a:chExt cx="135517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5178" cy="1593725"/>
            </a:xfrm>
            <a:custGeom>
              <a:avLst/>
              <a:gdLst/>
              <a:ahLst/>
              <a:cxnLst/>
              <a:rect l="l" t="t" r="r" b="b"/>
              <a:pathLst>
                <a:path w="1355178" h="1593725">
                  <a:moveTo>
                    <a:pt x="0" y="0"/>
                  </a:moveTo>
                  <a:lnTo>
                    <a:pt x="1355178" y="0"/>
                  </a:lnTo>
                  <a:lnTo>
                    <a:pt x="135517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801" r="-8801"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Freeform 4"/>
          <p:cNvSpPr/>
          <p:nvPr/>
        </p:nvSpPr>
        <p:spPr>
          <a:xfrm>
            <a:off x="306440" y="294424"/>
            <a:ext cx="1444520" cy="1468551"/>
          </a:xfrm>
          <a:custGeom>
            <a:avLst/>
            <a:gdLst/>
            <a:ahLst/>
            <a:cxnLst/>
            <a:rect l="l" t="t" r="r" b="b"/>
            <a:pathLst>
              <a:path w="1444520" h="1468551">
                <a:moveTo>
                  <a:pt x="0" y="0"/>
                </a:moveTo>
                <a:lnTo>
                  <a:pt x="1444520" y="0"/>
                </a:lnTo>
                <a:lnTo>
                  <a:pt x="1444520" y="1468552"/>
                </a:lnTo>
                <a:lnTo>
                  <a:pt x="0" y="1468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1939341" y="284899"/>
            <a:ext cx="9468098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Experience 1:</a:t>
            </a:r>
          </a:p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Static Environment with Known Map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3690" y="2865644"/>
            <a:ext cx="2791301" cy="48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1"/>
              </a:lnSpc>
              <a:spcBef>
                <a:spcPct val="0"/>
              </a:spcBef>
            </a:pPr>
            <a:r>
              <a:rPr lang="en-US" sz="3191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How it works: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690" y="3493535"/>
            <a:ext cx="9712838" cy="552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1. Pre-built occupancy grid of the restaurant (KnownMap)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2.  A* path planning on the full known grid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3.  Robot navigates directly — no exploration needed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4.  On table request: plan path → navigate → 2s service → return to base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5.  Obstacle inflation (1 cell) for safe clearance</a:t>
            </a:r>
          </a:p>
          <a:p>
            <a:pPr algn="l">
              <a:lnSpc>
                <a:spcPts val="3300"/>
              </a:lnSpc>
            </a:pPr>
            <a:endParaRPr lang="en-US" sz="30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859">
                <a:alpha val="100000"/>
              </a:srgbClr>
            </a:gs>
            <a:gs pos="100000">
              <a:srgbClr val="131F4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6440" y="294424"/>
            <a:ext cx="1444520" cy="1468551"/>
          </a:xfrm>
          <a:custGeom>
            <a:avLst/>
            <a:gdLst/>
            <a:ahLst/>
            <a:cxnLst/>
            <a:rect l="l" t="t" r="r" b="b"/>
            <a:pathLst>
              <a:path w="1444520" h="1468551">
                <a:moveTo>
                  <a:pt x="0" y="0"/>
                </a:moveTo>
                <a:lnTo>
                  <a:pt x="1444520" y="0"/>
                </a:lnTo>
                <a:lnTo>
                  <a:pt x="1444520" y="1468552"/>
                </a:lnTo>
                <a:lnTo>
                  <a:pt x="0" y="1468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939341" y="284899"/>
            <a:ext cx="9468098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Experience 1:</a:t>
            </a:r>
          </a:p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Static Environment with Known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44311" y="4895850"/>
            <a:ext cx="7509689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 dirty="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VIDEOOOOOOOOOOOOOOOOOOOOOOOOOOOOO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859">
                <a:alpha val="100000"/>
              </a:srgbClr>
            </a:gs>
            <a:gs pos="100000">
              <a:srgbClr val="131F4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9502" y="6489129"/>
            <a:ext cx="5948182" cy="5948182"/>
          </a:xfrm>
          <a:custGeom>
            <a:avLst/>
            <a:gdLst/>
            <a:ahLst/>
            <a:cxnLst/>
            <a:rect l="l" t="t" r="r" b="b"/>
            <a:pathLst>
              <a:path w="5948182" h="5948182">
                <a:moveTo>
                  <a:pt x="0" y="0"/>
                </a:moveTo>
                <a:lnTo>
                  <a:pt x="5948181" y="0"/>
                </a:lnTo>
                <a:lnTo>
                  <a:pt x="5948181" y="5948182"/>
                </a:lnTo>
                <a:lnTo>
                  <a:pt x="0" y="5948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134207" y="-2437066"/>
            <a:ext cx="5948182" cy="5948182"/>
          </a:xfrm>
          <a:custGeom>
            <a:avLst/>
            <a:gdLst/>
            <a:ahLst/>
            <a:cxnLst/>
            <a:rect l="l" t="t" r="r" b="b"/>
            <a:pathLst>
              <a:path w="5948182" h="5948182">
                <a:moveTo>
                  <a:pt x="0" y="0"/>
                </a:moveTo>
                <a:lnTo>
                  <a:pt x="5948182" y="0"/>
                </a:lnTo>
                <a:lnTo>
                  <a:pt x="5948182" y="5948182"/>
                </a:lnTo>
                <a:lnTo>
                  <a:pt x="0" y="5948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388441" y="364280"/>
            <a:ext cx="1280518" cy="1328840"/>
          </a:xfrm>
          <a:custGeom>
            <a:avLst/>
            <a:gdLst/>
            <a:ahLst/>
            <a:cxnLst/>
            <a:rect l="l" t="t" r="r" b="b"/>
            <a:pathLst>
              <a:path w="1280518" h="1328840">
                <a:moveTo>
                  <a:pt x="0" y="0"/>
                </a:moveTo>
                <a:lnTo>
                  <a:pt x="1280518" y="0"/>
                </a:lnTo>
                <a:lnTo>
                  <a:pt x="1280518" y="1328840"/>
                </a:lnTo>
                <a:lnTo>
                  <a:pt x="0" y="132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1969502" y="354755"/>
            <a:ext cx="12589912" cy="135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Experience 2:</a:t>
            </a:r>
          </a:p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Static Environment with Unknown Map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2061575"/>
            <a:ext cx="18288000" cy="5746372"/>
            <a:chOff x="0" y="0"/>
            <a:chExt cx="4816587" cy="15133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87" cy="1513319"/>
            </a:xfrm>
            <a:custGeom>
              <a:avLst/>
              <a:gdLst/>
              <a:ahLst/>
              <a:cxnLst/>
              <a:rect l="l" t="t" r="r" b="b"/>
              <a:pathLst>
                <a:path w="4816587" h="1513319">
                  <a:moveTo>
                    <a:pt x="4816587" y="32173"/>
                  </a:moveTo>
                  <a:lnTo>
                    <a:pt x="4816587" y="1481146"/>
                  </a:lnTo>
                  <a:cubicBezTo>
                    <a:pt x="4816587" y="1489679"/>
                    <a:pt x="4813197" y="1497862"/>
                    <a:pt x="4807164" y="1503896"/>
                  </a:cubicBezTo>
                  <a:cubicBezTo>
                    <a:pt x="4801130" y="1509929"/>
                    <a:pt x="4792947" y="1513319"/>
                    <a:pt x="4784414" y="1513319"/>
                  </a:cubicBezTo>
                  <a:lnTo>
                    <a:pt x="32173" y="1513319"/>
                  </a:lnTo>
                  <a:cubicBezTo>
                    <a:pt x="23640" y="1513319"/>
                    <a:pt x="15457" y="1509929"/>
                    <a:pt x="9423" y="1503896"/>
                  </a:cubicBezTo>
                  <a:cubicBezTo>
                    <a:pt x="3390" y="1497862"/>
                    <a:pt x="0" y="1489679"/>
                    <a:pt x="0" y="1481146"/>
                  </a:cubicBezTo>
                  <a:lnTo>
                    <a:pt x="0" y="32173"/>
                  </a:lnTo>
                  <a:cubicBezTo>
                    <a:pt x="0" y="23640"/>
                    <a:pt x="3390" y="15457"/>
                    <a:pt x="9423" y="9423"/>
                  </a:cubicBezTo>
                  <a:cubicBezTo>
                    <a:pt x="15457" y="3390"/>
                    <a:pt x="23640" y="0"/>
                    <a:pt x="32173" y="0"/>
                  </a:cubicBezTo>
                  <a:lnTo>
                    <a:pt x="4784414" y="0"/>
                  </a:lnTo>
                  <a:cubicBezTo>
                    <a:pt x="4792947" y="0"/>
                    <a:pt x="4801130" y="3390"/>
                    <a:pt x="4807164" y="9423"/>
                  </a:cubicBezTo>
                  <a:cubicBezTo>
                    <a:pt x="4813197" y="15457"/>
                    <a:pt x="4816587" y="23640"/>
                    <a:pt x="4816587" y="32173"/>
                  </a:cubicBezTo>
                  <a:close/>
                </a:path>
              </a:pathLst>
            </a:custGeom>
            <a:solidFill>
              <a:srgbClr val="C2E9FF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4816587" cy="1522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391221" y="2503358"/>
            <a:ext cx="2589386" cy="4824564"/>
          </a:xfrm>
          <a:custGeom>
            <a:avLst/>
            <a:gdLst/>
            <a:ahLst/>
            <a:cxnLst/>
            <a:rect l="l" t="t" r="r" b="b"/>
            <a:pathLst>
              <a:path w="2589386" h="4824564">
                <a:moveTo>
                  <a:pt x="0" y="0"/>
                </a:moveTo>
                <a:lnTo>
                  <a:pt x="2589386" y="0"/>
                </a:lnTo>
                <a:lnTo>
                  <a:pt x="2589386" y="4824564"/>
                </a:lnTo>
                <a:lnTo>
                  <a:pt x="0" y="4824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1659920" y="2503358"/>
            <a:ext cx="2473311" cy="4824564"/>
          </a:xfrm>
          <a:custGeom>
            <a:avLst/>
            <a:gdLst/>
            <a:ahLst/>
            <a:cxnLst/>
            <a:rect l="l" t="t" r="r" b="b"/>
            <a:pathLst>
              <a:path w="2473311" h="4824564">
                <a:moveTo>
                  <a:pt x="0" y="0"/>
                </a:moveTo>
                <a:lnTo>
                  <a:pt x="2473310" y="0"/>
                </a:lnTo>
                <a:lnTo>
                  <a:pt x="2473310" y="4824564"/>
                </a:lnTo>
                <a:lnTo>
                  <a:pt x="0" y="4824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546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4008567" y="2503358"/>
            <a:ext cx="2800700" cy="4824564"/>
          </a:xfrm>
          <a:custGeom>
            <a:avLst/>
            <a:gdLst/>
            <a:ahLst/>
            <a:cxnLst/>
            <a:rect l="l" t="t" r="r" b="b"/>
            <a:pathLst>
              <a:path w="2800700" h="4824564">
                <a:moveTo>
                  <a:pt x="0" y="0"/>
                </a:moveTo>
                <a:lnTo>
                  <a:pt x="2800700" y="0"/>
                </a:lnTo>
                <a:lnTo>
                  <a:pt x="2800700" y="4824564"/>
                </a:lnTo>
                <a:lnTo>
                  <a:pt x="0" y="4824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>
            <a:off x="585908" y="3342150"/>
            <a:ext cx="2166103" cy="3146979"/>
          </a:xfrm>
          <a:custGeom>
            <a:avLst/>
            <a:gdLst/>
            <a:ahLst/>
            <a:cxnLst/>
            <a:rect l="l" t="t" r="r" b="b"/>
            <a:pathLst>
              <a:path w="2166103" h="3146979">
                <a:moveTo>
                  <a:pt x="0" y="0"/>
                </a:moveTo>
                <a:lnTo>
                  <a:pt x="2166103" y="0"/>
                </a:lnTo>
                <a:lnTo>
                  <a:pt x="2166103" y="3146979"/>
                </a:lnTo>
                <a:lnTo>
                  <a:pt x="0" y="3146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3" name="Group 13"/>
          <p:cNvGrpSpPr/>
          <p:nvPr/>
        </p:nvGrpSpPr>
        <p:grpSpPr>
          <a:xfrm>
            <a:off x="2752011" y="4648914"/>
            <a:ext cx="705541" cy="533452"/>
            <a:chOff x="0" y="0"/>
            <a:chExt cx="1075005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5005" cy="812800"/>
            </a:xfrm>
            <a:custGeom>
              <a:avLst/>
              <a:gdLst/>
              <a:ahLst/>
              <a:cxnLst/>
              <a:rect l="l" t="t" r="r" b="b"/>
              <a:pathLst>
                <a:path w="1075005" h="812800">
                  <a:moveTo>
                    <a:pt x="1075005" y="406400"/>
                  </a:moveTo>
                  <a:lnTo>
                    <a:pt x="668605" y="0"/>
                  </a:lnTo>
                  <a:lnTo>
                    <a:pt x="66860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68605" y="609600"/>
                  </a:lnTo>
                  <a:lnTo>
                    <a:pt x="668605" y="812800"/>
                  </a:lnTo>
                  <a:lnTo>
                    <a:pt x="1075005" y="406400"/>
                  </a:ln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3675"/>
              <a:ext cx="97340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09267" y="4648914"/>
            <a:ext cx="705541" cy="533452"/>
            <a:chOff x="0" y="0"/>
            <a:chExt cx="1075005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5005" cy="812800"/>
            </a:xfrm>
            <a:custGeom>
              <a:avLst/>
              <a:gdLst/>
              <a:ahLst/>
              <a:cxnLst/>
              <a:rect l="l" t="t" r="r" b="b"/>
              <a:pathLst>
                <a:path w="1075005" h="812800">
                  <a:moveTo>
                    <a:pt x="1075005" y="406400"/>
                  </a:moveTo>
                  <a:lnTo>
                    <a:pt x="668605" y="0"/>
                  </a:lnTo>
                  <a:lnTo>
                    <a:pt x="66860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68605" y="609600"/>
                  </a:lnTo>
                  <a:lnTo>
                    <a:pt x="668605" y="812800"/>
                  </a:lnTo>
                  <a:lnTo>
                    <a:pt x="1075005" y="406400"/>
                  </a:ln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3675"/>
              <a:ext cx="97340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065824" y="2503358"/>
            <a:ext cx="2336104" cy="4824564"/>
          </a:xfrm>
          <a:custGeom>
            <a:avLst/>
            <a:gdLst/>
            <a:ahLst/>
            <a:cxnLst/>
            <a:rect l="l" t="t" r="r" b="b"/>
            <a:pathLst>
              <a:path w="2336104" h="4824564">
                <a:moveTo>
                  <a:pt x="0" y="0"/>
                </a:moveTo>
                <a:lnTo>
                  <a:pt x="2336105" y="0"/>
                </a:lnTo>
                <a:lnTo>
                  <a:pt x="2336105" y="4824564"/>
                </a:lnTo>
                <a:lnTo>
                  <a:pt x="0" y="48245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20" name="Group 20"/>
          <p:cNvGrpSpPr/>
          <p:nvPr/>
        </p:nvGrpSpPr>
        <p:grpSpPr>
          <a:xfrm>
            <a:off x="10401929" y="4648914"/>
            <a:ext cx="705541" cy="533452"/>
            <a:chOff x="0" y="0"/>
            <a:chExt cx="1075005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5005" cy="812800"/>
            </a:xfrm>
            <a:custGeom>
              <a:avLst/>
              <a:gdLst/>
              <a:ahLst/>
              <a:cxnLst/>
              <a:rect l="l" t="t" r="r" b="b"/>
              <a:pathLst>
                <a:path w="1075005" h="812800">
                  <a:moveTo>
                    <a:pt x="1075005" y="406400"/>
                  </a:moveTo>
                  <a:lnTo>
                    <a:pt x="668605" y="0"/>
                  </a:lnTo>
                  <a:lnTo>
                    <a:pt x="66860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68605" y="609600"/>
                  </a:lnTo>
                  <a:lnTo>
                    <a:pt x="668605" y="812800"/>
                  </a:lnTo>
                  <a:lnTo>
                    <a:pt x="1075005" y="406400"/>
                  </a:ln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3675"/>
              <a:ext cx="97340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133230" y="4648914"/>
            <a:ext cx="705541" cy="533452"/>
            <a:chOff x="0" y="0"/>
            <a:chExt cx="1075005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5005" cy="812800"/>
            </a:xfrm>
            <a:custGeom>
              <a:avLst/>
              <a:gdLst/>
              <a:ahLst/>
              <a:cxnLst/>
              <a:rect l="l" t="t" r="r" b="b"/>
              <a:pathLst>
                <a:path w="1075005" h="812800">
                  <a:moveTo>
                    <a:pt x="1075005" y="406400"/>
                  </a:moveTo>
                  <a:lnTo>
                    <a:pt x="668605" y="0"/>
                  </a:lnTo>
                  <a:lnTo>
                    <a:pt x="66860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68605" y="609600"/>
                  </a:lnTo>
                  <a:lnTo>
                    <a:pt x="668605" y="812800"/>
                  </a:lnTo>
                  <a:lnTo>
                    <a:pt x="1075005" y="406400"/>
                  </a:ln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93675"/>
              <a:ext cx="97340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859">
                <a:alpha val="100000"/>
              </a:srgbClr>
            </a:gs>
            <a:gs pos="100000">
              <a:srgbClr val="131F4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0568" y="7702759"/>
            <a:ext cx="5948182" cy="5948182"/>
          </a:xfrm>
          <a:custGeom>
            <a:avLst/>
            <a:gdLst/>
            <a:ahLst/>
            <a:cxnLst/>
            <a:rect l="l" t="t" r="r" b="b"/>
            <a:pathLst>
              <a:path w="5948182" h="5948182">
                <a:moveTo>
                  <a:pt x="0" y="0"/>
                </a:moveTo>
                <a:lnTo>
                  <a:pt x="5948182" y="0"/>
                </a:lnTo>
                <a:lnTo>
                  <a:pt x="5948182" y="5948182"/>
                </a:lnTo>
                <a:lnTo>
                  <a:pt x="0" y="5948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969502" y="354755"/>
            <a:ext cx="12589912" cy="135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Experience 2:</a:t>
            </a:r>
          </a:p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Static Environment with Unknown Map</a:t>
            </a:r>
          </a:p>
        </p:txBody>
      </p:sp>
      <p:sp>
        <p:nvSpPr>
          <p:cNvPr id="4" name="Freeform 4"/>
          <p:cNvSpPr/>
          <p:nvPr/>
        </p:nvSpPr>
        <p:spPr>
          <a:xfrm>
            <a:off x="15134207" y="-2437066"/>
            <a:ext cx="5948182" cy="5948182"/>
          </a:xfrm>
          <a:custGeom>
            <a:avLst/>
            <a:gdLst/>
            <a:ahLst/>
            <a:cxnLst/>
            <a:rect l="l" t="t" r="r" b="b"/>
            <a:pathLst>
              <a:path w="5948182" h="5948182">
                <a:moveTo>
                  <a:pt x="0" y="0"/>
                </a:moveTo>
                <a:lnTo>
                  <a:pt x="5948182" y="0"/>
                </a:lnTo>
                <a:lnTo>
                  <a:pt x="5948182" y="5948182"/>
                </a:lnTo>
                <a:lnTo>
                  <a:pt x="0" y="5948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388441" y="364280"/>
            <a:ext cx="1280518" cy="1328840"/>
          </a:xfrm>
          <a:custGeom>
            <a:avLst/>
            <a:gdLst/>
            <a:ahLst/>
            <a:cxnLst/>
            <a:rect l="l" t="t" r="r" b="b"/>
            <a:pathLst>
              <a:path w="1280518" h="1328840">
                <a:moveTo>
                  <a:pt x="0" y="0"/>
                </a:moveTo>
                <a:lnTo>
                  <a:pt x="1280518" y="0"/>
                </a:lnTo>
                <a:lnTo>
                  <a:pt x="1280518" y="1328840"/>
                </a:lnTo>
                <a:lnTo>
                  <a:pt x="0" y="132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5444311" y="4895850"/>
            <a:ext cx="7585889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VIDEOOOOOOOOOOOOOOOOOOOOOOOOOOOOO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4859">
                <a:alpha val="100000"/>
              </a:srgbClr>
            </a:gs>
            <a:gs pos="100000">
              <a:srgbClr val="131F4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77648" y="8298041"/>
            <a:ext cx="5210352" cy="7293141"/>
          </a:xfrm>
          <a:custGeom>
            <a:avLst/>
            <a:gdLst/>
            <a:ahLst/>
            <a:cxnLst/>
            <a:rect l="l" t="t" r="r" b="b"/>
            <a:pathLst>
              <a:path w="5210352" h="7293141">
                <a:moveTo>
                  <a:pt x="5210352" y="7293140"/>
                </a:moveTo>
                <a:lnTo>
                  <a:pt x="0" y="7293140"/>
                </a:lnTo>
                <a:lnTo>
                  <a:pt x="0" y="0"/>
                </a:lnTo>
                <a:lnTo>
                  <a:pt x="5210352" y="0"/>
                </a:lnTo>
                <a:lnTo>
                  <a:pt x="5210352" y="729314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997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311398" y="198836"/>
            <a:ext cx="1358097" cy="1422768"/>
          </a:xfrm>
          <a:custGeom>
            <a:avLst/>
            <a:gdLst/>
            <a:ahLst/>
            <a:cxnLst/>
            <a:rect l="l" t="t" r="r" b="b"/>
            <a:pathLst>
              <a:path w="1358097" h="1422768">
                <a:moveTo>
                  <a:pt x="0" y="0"/>
                </a:moveTo>
                <a:lnTo>
                  <a:pt x="1358097" y="0"/>
                </a:lnTo>
                <a:lnTo>
                  <a:pt x="1358097" y="1422768"/>
                </a:lnTo>
                <a:lnTo>
                  <a:pt x="0" y="1422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4" name="Group 4"/>
          <p:cNvGrpSpPr/>
          <p:nvPr/>
        </p:nvGrpSpPr>
        <p:grpSpPr>
          <a:xfrm>
            <a:off x="990446" y="2472314"/>
            <a:ext cx="5170284" cy="6623477"/>
            <a:chOff x="0" y="0"/>
            <a:chExt cx="1361721" cy="17444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1721" cy="1744455"/>
            </a:xfrm>
            <a:custGeom>
              <a:avLst/>
              <a:gdLst/>
              <a:ahLst/>
              <a:cxnLst/>
              <a:rect l="l" t="t" r="r" b="b"/>
              <a:pathLst>
                <a:path w="1361721" h="1744455">
                  <a:moveTo>
                    <a:pt x="107812" y="0"/>
                  </a:moveTo>
                  <a:lnTo>
                    <a:pt x="1253909" y="0"/>
                  </a:lnTo>
                  <a:cubicBezTo>
                    <a:pt x="1313452" y="0"/>
                    <a:pt x="1361721" y="48269"/>
                    <a:pt x="1361721" y="107812"/>
                  </a:cubicBezTo>
                  <a:lnTo>
                    <a:pt x="1361721" y="1636643"/>
                  </a:lnTo>
                  <a:cubicBezTo>
                    <a:pt x="1361721" y="1696186"/>
                    <a:pt x="1313452" y="1744455"/>
                    <a:pt x="1253909" y="1744455"/>
                  </a:cubicBezTo>
                  <a:lnTo>
                    <a:pt x="107812" y="1744455"/>
                  </a:lnTo>
                  <a:cubicBezTo>
                    <a:pt x="48269" y="1744455"/>
                    <a:pt x="0" y="1696186"/>
                    <a:pt x="0" y="1636643"/>
                  </a:cubicBezTo>
                  <a:lnTo>
                    <a:pt x="0" y="107812"/>
                  </a:lnTo>
                  <a:cubicBezTo>
                    <a:pt x="0" y="48269"/>
                    <a:pt x="48269" y="0"/>
                    <a:pt x="107812" y="0"/>
                  </a:cubicBezTo>
                  <a:close/>
                </a:path>
              </a:pathLst>
            </a:custGeom>
            <a:solidFill>
              <a:srgbClr val="99E17A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361721" cy="1801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38889" y="2729911"/>
            <a:ext cx="4398594" cy="1002987"/>
          </a:xfrm>
          <a:custGeom>
            <a:avLst/>
            <a:gdLst/>
            <a:ahLst/>
            <a:cxnLst/>
            <a:rect l="l" t="t" r="r" b="b"/>
            <a:pathLst>
              <a:path w="4398594" h="1002987">
                <a:moveTo>
                  <a:pt x="0" y="0"/>
                </a:moveTo>
                <a:lnTo>
                  <a:pt x="4398594" y="0"/>
                </a:lnTo>
                <a:lnTo>
                  <a:pt x="4398594" y="1002987"/>
                </a:lnTo>
                <a:lnTo>
                  <a:pt x="0" y="1002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94" r="-14823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1094488" y="3978006"/>
            <a:ext cx="752775" cy="806544"/>
          </a:xfrm>
          <a:custGeom>
            <a:avLst/>
            <a:gdLst/>
            <a:ahLst/>
            <a:cxnLst/>
            <a:rect l="l" t="t" r="r" b="b"/>
            <a:pathLst>
              <a:path w="752775" h="806544">
                <a:moveTo>
                  <a:pt x="0" y="0"/>
                </a:moveTo>
                <a:lnTo>
                  <a:pt x="752775" y="0"/>
                </a:lnTo>
                <a:lnTo>
                  <a:pt x="752775" y="806544"/>
                </a:lnTo>
                <a:lnTo>
                  <a:pt x="0" y="806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>
            <a:off x="1084950" y="4949138"/>
            <a:ext cx="762312" cy="834914"/>
          </a:xfrm>
          <a:custGeom>
            <a:avLst/>
            <a:gdLst/>
            <a:ahLst/>
            <a:cxnLst/>
            <a:rect l="l" t="t" r="r" b="b"/>
            <a:pathLst>
              <a:path w="762312" h="834914">
                <a:moveTo>
                  <a:pt x="0" y="0"/>
                </a:moveTo>
                <a:lnTo>
                  <a:pt x="762313" y="0"/>
                </a:lnTo>
                <a:lnTo>
                  <a:pt x="762313" y="834914"/>
                </a:lnTo>
                <a:lnTo>
                  <a:pt x="0" y="834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Freeform 10"/>
          <p:cNvSpPr/>
          <p:nvPr/>
        </p:nvSpPr>
        <p:spPr>
          <a:xfrm>
            <a:off x="1094488" y="6117427"/>
            <a:ext cx="762312" cy="834914"/>
          </a:xfrm>
          <a:custGeom>
            <a:avLst/>
            <a:gdLst/>
            <a:ahLst/>
            <a:cxnLst/>
            <a:rect l="l" t="t" r="r" b="b"/>
            <a:pathLst>
              <a:path w="762312" h="834914">
                <a:moveTo>
                  <a:pt x="0" y="0"/>
                </a:moveTo>
                <a:lnTo>
                  <a:pt x="762313" y="0"/>
                </a:lnTo>
                <a:lnTo>
                  <a:pt x="762313" y="834914"/>
                </a:lnTo>
                <a:lnTo>
                  <a:pt x="0" y="834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>
          <a:xfrm>
            <a:off x="1129822" y="7592421"/>
            <a:ext cx="762312" cy="834914"/>
          </a:xfrm>
          <a:custGeom>
            <a:avLst/>
            <a:gdLst/>
            <a:ahLst/>
            <a:cxnLst/>
            <a:rect l="l" t="t" r="r" b="b"/>
            <a:pathLst>
              <a:path w="762312" h="834914">
                <a:moveTo>
                  <a:pt x="0" y="0"/>
                </a:moveTo>
                <a:lnTo>
                  <a:pt x="762312" y="0"/>
                </a:lnTo>
                <a:lnTo>
                  <a:pt x="762312" y="834913"/>
                </a:lnTo>
                <a:lnTo>
                  <a:pt x="0" y="834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2" name="Group 12"/>
          <p:cNvGrpSpPr/>
          <p:nvPr/>
        </p:nvGrpSpPr>
        <p:grpSpPr>
          <a:xfrm>
            <a:off x="6558858" y="2472314"/>
            <a:ext cx="5170284" cy="6623477"/>
            <a:chOff x="0" y="0"/>
            <a:chExt cx="1361721" cy="17444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1721" cy="1744455"/>
            </a:xfrm>
            <a:custGeom>
              <a:avLst/>
              <a:gdLst/>
              <a:ahLst/>
              <a:cxnLst/>
              <a:rect l="l" t="t" r="r" b="b"/>
              <a:pathLst>
                <a:path w="1361721" h="1744455">
                  <a:moveTo>
                    <a:pt x="107812" y="0"/>
                  </a:moveTo>
                  <a:lnTo>
                    <a:pt x="1253909" y="0"/>
                  </a:lnTo>
                  <a:cubicBezTo>
                    <a:pt x="1313452" y="0"/>
                    <a:pt x="1361721" y="48269"/>
                    <a:pt x="1361721" y="107812"/>
                  </a:cubicBezTo>
                  <a:lnTo>
                    <a:pt x="1361721" y="1636643"/>
                  </a:lnTo>
                  <a:cubicBezTo>
                    <a:pt x="1361721" y="1696186"/>
                    <a:pt x="1313452" y="1744455"/>
                    <a:pt x="1253909" y="1744455"/>
                  </a:cubicBezTo>
                  <a:lnTo>
                    <a:pt x="107812" y="1744455"/>
                  </a:lnTo>
                  <a:cubicBezTo>
                    <a:pt x="48269" y="1744455"/>
                    <a:pt x="0" y="1696186"/>
                    <a:pt x="0" y="1636643"/>
                  </a:cubicBezTo>
                  <a:lnTo>
                    <a:pt x="0" y="107812"/>
                  </a:lnTo>
                  <a:cubicBezTo>
                    <a:pt x="0" y="48269"/>
                    <a:pt x="48269" y="0"/>
                    <a:pt x="107812" y="0"/>
                  </a:cubicBezTo>
                  <a:close/>
                </a:path>
              </a:pathLst>
            </a:custGeom>
            <a:solidFill>
              <a:srgbClr val="FBCD3F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361721" cy="1801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57792" y="2472314"/>
            <a:ext cx="5170284" cy="6623477"/>
            <a:chOff x="0" y="0"/>
            <a:chExt cx="1361721" cy="17444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1721" cy="1744455"/>
            </a:xfrm>
            <a:custGeom>
              <a:avLst/>
              <a:gdLst/>
              <a:ahLst/>
              <a:cxnLst/>
              <a:rect l="l" t="t" r="r" b="b"/>
              <a:pathLst>
                <a:path w="1361721" h="1744455">
                  <a:moveTo>
                    <a:pt x="107812" y="0"/>
                  </a:moveTo>
                  <a:lnTo>
                    <a:pt x="1253909" y="0"/>
                  </a:lnTo>
                  <a:cubicBezTo>
                    <a:pt x="1313452" y="0"/>
                    <a:pt x="1361721" y="48269"/>
                    <a:pt x="1361721" y="107812"/>
                  </a:cubicBezTo>
                  <a:lnTo>
                    <a:pt x="1361721" y="1636643"/>
                  </a:lnTo>
                  <a:cubicBezTo>
                    <a:pt x="1361721" y="1696186"/>
                    <a:pt x="1313452" y="1744455"/>
                    <a:pt x="1253909" y="1744455"/>
                  </a:cubicBezTo>
                  <a:lnTo>
                    <a:pt x="107812" y="1744455"/>
                  </a:lnTo>
                  <a:cubicBezTo>
                    <a:pt x="48269" y="1744455"/>
                    <a:pt x="0" y="1696186"/>
                    <a:pt x="0" y="1636643"/>
                  </a:cubicBezTo>
                  <a:lnTo>
                    <a:pt x="0" y="107812"/>
                  </a:lnTo>
                  <a:cubicBezTo>
                    <a:pt x="0" y="48269"/>
                    <a:pt x="48269" y="0"/>
                    <a:pt x="107812" y="0"/>
                  </a:cubicBezTo>
                  <a:close/>
                </a:path>
              </a:pathLst>
            </a:custGeom>
            <a:solidFill>
              <a:srgbClr val="57A2C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361721" cy="1801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944703" y="2729911"/>
            <a:ext cx="4398594" cy="1002987"/>
          </a:xfrm>
          <a:custGeom>
            <a:avLst/>
            <a:gdLst/>
            <a:ahLst/>
            <a:cxnLst/>
            <a:rect l="l" t="t" r="r" b="b"/>
            <a:pathLst>
              <a:path w="4398594" h="1002987">
                <a:moveTo>
                  <a:pt x="0" y="0"/>
                </a:moveTo>
                <a:lnTo>
                  <a:pt x="4398594" y="0"/>
                </a:lnTo>
                <a:lnTo>
                  <a:pt x="4398594" y="1002987"/>
                </a:lnTo>
                <a:lnTo>
                  <a:pt x="0" y="1002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694" r="-14823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9" name="Freeform 19"/>
          <p:cNvSpPr/>
          <p:nvPr/>
        </p:nvSpPr>
        <p:spPr>
          <a:xfrm>
            <a:off x="12743637" y="2729911"/>
            <a:ext cx="4398594" cy="1002987"/>
          </a:xfrm>
          <a:custGeom>
            <a:avLst/>
            <a:gdLst/>
            <a:ahLst/>
            <a:cxnLst/>
            <a:rect l="l" t="t" r="r" b="b"/>
            <a:pathLst>
              <a:path w="4398594" h="1002987">
                <a:moveTo>
                  <a:pt x="0" y="0"/>
                </a:moveTo>
                <a:lnTo>
                  <a:pt x="4398594" y="0"/>
                </a:lnTo>
                <a:lnTo>
                  <a:pt x="4398594" y="1002987"/>
                </a:lnTo>
                <a:lnTo>
                  <a:pt x="0" y="1002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694" r="-14823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0" name="TextBox 20"/>
          <p:cNvSpPr txBox="1"/>
          <p:nvPr/>
        </p:nvSpPr>
        <p:spPr>
          <a:xfrm>
            <a:off x="1847263" y="534935"/>
            <a:ext cx="7474505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84E3F8"/>
                </a:solidFill>
                <a:latin typeface="Antique Olive"/>
                <a:ea typeface="Antique Olive"/>
                <a:cs typeface="Antique Olive"/>
                <a:sym typeface="Antique Olive"/>
              </a:rPr>
              <a:t>Next Steps &amp; Questions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0978" y="2918667"/>
            <a:ext cx="4054416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Done: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9037" y="3968481"/>
            <a:ext cx="4712242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Completed restaurant environment in Webots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04119" y="5103967"/>
            <a:ext cx="3890220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Request/call mechanism for the tables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6952" y="6302736"/>
            <a:ext cx="4224328" cy="128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First version of the known-map navigation approach and of the unknown-map robot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16792" y="2918667"/>
            <a:ext cx="4054416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Questions: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15726" y="2918667"/>
            <a:ext cx="4054416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Next: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29989" y="4120881"/>
            <a:ext cx="4712242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3" lvl="1" indent="-259082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Compare EXP1 vs EXP2 in multiple runs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29989" y="5103967"/>
            <a:ext cx="4981019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3" lvl="1" indent="-259082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Introduce dynamic obstacles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29989" y="5774527"/>
            <a:ext cx="4981019" cy="159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3" lvl="1" indent="-259082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Do EXP 3 Dynamic Environment with Known Map and EXP 4 Dynamic Environment with Unknown Map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29989" y="7665072"/>
            <a:ext cx="4981019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3" lvl="1" indent="-259082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Calculate new metrics and produce final videos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69495" y="7817472"/>
            <a:ext cx="339307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Performance metrics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87879" y="4120881"/>
            <a:ext cx="4712242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Service policy should change from FIFO to Nearest-first?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Antique Olive"/>
              <a:ea typeface="Antique Olive"/>
              <a:cs typeface="Antique Olive"/>
              <a:sym typeface="Antique Oliv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787879" y="5096242"/>
            <a:ext cx="4712242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Apply a new heuristic when, in experiment 2, the robot does not know the A* path?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296</Words>
  <Application>Microsoft Office PowerPoint</Application>
  <PresentationFormat>Personalizados</PresentationFormat>
  <Paragraphs>56</Paragraphs>
  <Slides>9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4" baseType="lpstr">
      <vt:lpstr>Calibri</vt:lpstr>
      <vt:lpstr>Arial</vt:lpstr>
      <vt:lpstr>Aptos</vt:lpstr>
      <vt:lpstr>Antique Olive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Artificial Intelligence Presentation</dc:title>
  <dc:creator>Leonor Baía</dc:creator>
  <cp:lastModifiedBy>Leonor Marques dos Santos Baía</cp:lastModifiedBy>
  <cp:revision>2</cp:revision>
  <dcterms:created xsi:type="dcterms:W3CDTF">2006-08-16T00:00:00Z</dcterms:created>
  <dcterms:modified xsi:type="dcterms:W3CDTF">2026-05-12T13:15:00Z</dcterms:modified>
  <dc:identifier>DAHJcWIDfc4</dc:identifier>
</cp:coreProperties>
</file>